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开场：一句话定位。Harness Engineering Kit 不是 Prompt 技巧集，而是一套把权威、规则、文档、门禁与证据沉淀进仓库的控制系统，让每次 AI 会话都站在可靠基础上。今天 32 页讲清楚：为什么、是什么（含 OpenSpec 规格驱动）、怎么运转、怎么反哺、怎么接入、落地成品与演进。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五段式导览。第 3 页从工程现场的真实痛点切入；What 段会专门讲清 OpenSpec 规格驱动的定位；最后用优惠分摊引擎案例把整条链路走一遍。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对照实验：同样需求，模型能力相同，为什么在真实项目里时好时坏？差距不在模型，在于三种缺失。这决定了后面的所有设计：上下文要确定性加载、需求要先进规格与契约、完成必须有门禁和证据。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引用项目里一句高度浓缩的话：“LLM 回答它能做，Harness 决定允许它怎么做、做完怎么证明。”状态、流程、验证都不该寄希望于模型的自觉，而是仓库里可执行的机制。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这页先讲演进、再落到比喻。三级阶梯：Prompt Engineering 控制一次调用——怎么问决定单次产出，但规则只活在提示词里，换会话即丢；Context Engineering 控制一次会话——确定性加载最小而稳定的上下文（本仓库的 resolve_context、ai.json/AI.md、prompt cache 都属于这一层）；Harness Engineering 控制整个变更生命周期——把工具循环与治理（规格、审批、门禁、证据）装进模型外围，让 AI 不仅会做，还被允许做、可证明做完。三级叠加不替代：模型越强，瓶颈从怎么问移到喂什么、再移到怎么管。阶段③内部又分两层：缰绳 Agent Harness 随工具走（会话层）、皮鞭 Project Harness 随仓库走（对每个 Agent 生效）——HEK 就是那把皮鞭，本讲重点。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一句话：给 LLM 加一个仓库内的“工程运行时”。装好后对用户透明——非平凡需求不再被直接丢给实现，而是先进规格与生命周期。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设计原则：拒绝超长根 Prompt。每层只声明自己的权威边界，缺哪层补哪层。注意最后三行的归属切分：OpenSpec 管产物，Harness 管证据，Fitness 是受保护控制面。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OpenSpec 是外部开源框架（v1.12），负责规格驱动的生命周期；HEK 不重复造轮子，而是用它的自定义 schema 机制把工程治理挂进去。强调右侧两组文件的归属差异：上面一组属于 OpenSpec，下面一组是 Harness 附加的治理证据。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上下文是决定质量的第一变量。确定性加载保证同一路径永远得到同一套事实，且不会把整个代码库塞进 prompt。左侧四级加载链的顺序固定，避免 AI.md 覆盖策略。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四种缓存勿混淆：Prompt Cache(重复前缀)、KV Cache(生成中)、Embedding Cache(文档向量)、业务结果缓存。Harness 管的是仓库侧那份——保证前缀稳定并测量命中率。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整条链路的顺序要讲清楚：Explore→Propose→Apply→Verify→Sync→Archive。OpenSpec 负责“是否合法/是否完成”，Engineering 负责“是否被授权、是否有证据”。下一页展开规格增量如何合回权威库。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这一页解释 spec-driven 的核心机制：规格不是一份静态文档，而是随变更演进的活事实。delta 只在 change 内部存在，验证通过才合并回权威库——这就是“规格与代码不漂移”的来源。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治理的关键不是“多几道检查”，而是授权绑定契约摘要：approval 是审批当时的契约快照。所以契约变更必须重新走审批，防止“批过=永远有效”。左侧五步是每个 change 的标准治理链。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 是 developer-facing 的批准包。交给开发者之前要能回答“推荐什么、边界在哪、怎么验证、风险是什么”。底部三步是 Design 阶段的推进顺序：结构校验 → 人确认 → 才绑定审批。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“代码生成了≠完成”。完成 = 状态推进 + 门禁 + 证据。左侧四步是勾选与证据的闭环；Apply 阶段是唯一协调者调度，Workers 把证据交回，集成与最终验证只在协调者做。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这页讲清为什么必须有建模步骤，不能让 AI 直接从需求跳到实现。核心洞察来自 abstraction-first.md：AI 写码最大的风险不是代码跑不起来，而是代码「看起来能跑但打破系统边界」。左右对比五条：跳过建模时接口被实现反向塑造、AI 天然写深继承和多层分支、领域层依赖框架、测试跟着实现走；有 RAM/D 时 ACL 三层翻译把关、契约先行、组合多态优先、依赖方向正确、测试测的是契约不是实现。底部一句收束：生成成本几乎为零，但破坏架构边界的成本不会因此降低。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这页补上“为什么 RAM”里最贴近 OOP 的一层：LLM 天生按“这次能跑”组织代码，抽象、复用、职责单一都不是它的默认优化目标。RAM 的 Read→Analyze→Model 把“先抽象后实现”变成被强制执行的步骤，产出的是可扩展、可替换、可测试的结构，而不是一坨能跑但不长久的实现。要点与 abstraction-first（契约先行、继承≤1、分支抽 Strategy/Handler、复用来自契约）呼应：好的 OOP 品质要在设计阶段确立，并由门禁守住。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换成一个更真实、也更复杂的例子：风控授信策略。同一笔申请，“直接生成”把黑名单、负债比、新设备首贷、评分、反欺诈等十几条规则全塞进 evaluate() 的 if 堆里——动作（拒绝/人工/降额）散落在代码里，没有统一原因码，加规则或调顺序只能改代码，无灰度无回滚。RAM 先做 Read/Analyze：把“决策 = 按序命中一组规则”识别出来，Model 阶段用契约先行产出 RiskRule 接口、Decision 结果对象与 RiskEngine 有序编排——一个实现一条规则，各单一职责；加规则=新增实现+注册，上线=调策略清单可灰度/回滚，原因码贯穿实现可解释可留痕。这正是把“策略”当作一等模型、把 if/else 换成“规则引擎”抽象的过程。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后端 RAM 解释如何在不越过架构边界的前提下建模。Read 阶段是确定性加载：按 resolve_context 固定顺序读 agent-policy（命令/权限）、命中路径 AI.md、相关代码/测试/契约/历史——不是瞎搜。Analyze 阶段把会改变设计的事实列全：不变量、所有权与信任边界、调用方与兼容性、数据迁移、失败模式、运维风险。Model 阶段产出可批准的模型：领域边界、接口契约、持久化、幂等/事务/并发、可观测、实现顺序，并用拓扑/时序/职责三视图写进 design.md。RAM 是统一 engineering Skill 在 Explore/Propose 阶段的设计特化，不是独立命令或第二套生命周期；底图强调产出要先过结构校验与开发者确认、绑定审批摘要，Apply 只消费已批模型，Verify 用聚焦验证与架构/契约 Fitness 收口。右侧铁律全部来自 abstraction-first 与架构边界约束，而非某个项目的专属规则。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前端 RAD 与后端 RAM 是同一方法的镜像。Read 阶段加载产品行为、设计系统/组件库、路由、API 类型、状态归属、现有测试与无障碍约束；Analyze 阶段识别用户态（loading/empty/error）、权限边界、响应式与兼容、交互语义与无障碍、API 契约风险；Decompose 阶段产出组件与容器职责树、数据/状态流、类型化 API 边界、校验/交互态/无障碍与实现顺序，并和后端 Model 一起写进同一份 design.md。RAD 不是独立命令，而是前端 Profile 的设计特化，只依赖同一生命周期与门禁；图注强调门禁与放行与后端是同一条链。右侧铁律来自前端架构边界：类型即契约、UI 不直连基础设施、视图/状态/数据流三层不混。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给 RAD 配一个与 RAM 例子对称的前端例子。同一张订单管理页，“直接生成”把接口请求、筛选/分页/批量状态、loading/empty/error、部门权限全堆进一个巨型组件，改动牵一发动全身、到别的页面只能复制。RAD 先 Read/Analyze 想清“视图 / 状态 / 数据流”三层与变化轴，Decompose 阶段契约先行：先出 types.ts 类型契约，再用 useOrderList hook 收敛搜索/筛选/分页/批量状态，api client 只发请求返回类型化数据，UI 收敛成 Filter/OrderRow/Batch 等纯展示组件，OrderPage 只负责组装。于是加一种筛选或批量动作=加一个 hook 分支或展示组件，loading/empty/error/权限各归其位、可单测、可跨页复用。对应前端铁律：类型即契约、UI 不直连基础设施、三层不混。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跨模块协作不是说每个模块各开各的 change，而是同一个 change 里协调多模块。核心：先把跨模块契约边界（端口/数据结构/错误码/幂等键/权限/可观测字段/归属模块）写进 design.md，各模块的 Model/Decompose 都在这一份里；波次依赖由 OpenSpec tasks.md 表达，按就绪波次推进——契约层先合入、依赖它的模块再实现、最后接入与集成验证。任务执行即产生 execution-evidence；并行只是可选机制（需声明隔离与不重叠写范围），串行记录 fallback 原因，都不算降级。所有证据交给唯一协调者，集成与最终验证只跑一次；Review 逐模块校验字段/枚举/错误/权限/路由对齐，且各模块文件摘要与执行记录精确一致。整个过程只有一条生命周期（OpenSpec 是 owner），没有第二套任务图。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全栈联动以前靠两条平行循环串行浪费、并行对不齐；现在一个 change。Review 强制校验字段/枚举/错误/权限/路由，以及两侧文件摘要与执行记录精确一致。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把“误解需求”拦在开工前。注意 clarify 时不应无限追问，只问会改变计划/行为/安全/完成判定的点，一次最多约 3 个阻塞性问题并给出推荐。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Self-Refine 收敛草稿质量，但能力边界很明确：它改不了“同一个错误模型再犯一遍”，所以永远替代不了审批、确定性门禁、人工 Review。灵感来自 Madaan et al. NeurIPS 2023。补充讲法：左侧四步首尾相接成环——再检查未收敛就回到自我批判继续迭代，直到达标或到上限；批判有契约，只记录具体发现。内环收敛不了的失败流入下一页的外环（Reflexion 式跨变更经验保留），反复出现再升级为 Fitness 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Self-Refine 只管单次变更；经验记忆跨变更。它把可复用失败变成检索到的预防指导。注意 lessons 是咨询性，未经 reviewer 激活不是权威；禁止存密钥/个人数据/生产数据。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fitness 脚本零依赖单文件、可 dry-run、按 tier 分层执行。每个 dimension 一个 .md 放在 docs/fitness/。规则必须人可读 + 脚本可执行，Agent 失败时能指出文件/规则/原因/修复入口。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方法论自身的变更与产品变更用同样的档位、证据、回滚纪律。Skill 是替换式适配器；缺失时必须降级到文档化的手工流程，不能静默降低安全边界。衡量：lead time/rework/逃逸缺陷/变更失败率/cache 命中率等。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接入即“agent 驱动”：不是脚本把模板复制进去就完事，而是让 Agent 读真实仓库事实、填占位、跑检查，保证链路闭合（fail-closed）。三种安装方式对应不同使用频率与自动化场景。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这页用 aegis 这个真实项目证明 HEK 不是纸上谈兵——是已经在生产级 AI Agent 平台上跑起来的工程系统。数字说话：31 个已归档的 OpenSpec 变更，说明生命周期是跑通的；17 条 Fitness 规则，说明质量门禁是实装的；v0.5.1 Tier 2，说明版本与档位机制在真实升级路径上工作。落地构成讲清装进仓库的四件东西：方法论核心、Fitness 门禁、OpenSpec 生命周期、Engineering Skill。底部代表性变更让听众看到方法论覆盖的需求类型：平台架构、分析闭环、证据、流式交互、意图路由、技能系统——都是非平凡的真实变更。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演进线索：从“方法论文档”到“Agent 驱动接入”再到“OpenSpec 为 owner + 治理证据”。0.4 把需求反思与任务 DAG 加上，0.5 完成收敛。衡量务必先有 baseline 与样本量，再谈收益。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收束到五条可带走的话。若要现场演示，建议打开 aegis 项目走一个代表性变更（如能力驱动 AI 平台），展示 OpenSpec 四件套、证据文件与 Fitness 门禁。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9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20760000">
            <a:off x="-1463040" y="2697480"/>
            <a:ext cx="16093440" cy="960120"/>
          </a:xfrm>
          <a:prstGeom prst="parallelogram">
            <a:avLst/>
          </a:prstGeom>
          <a:solidFill>
            <a:srgbClr val="00D9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 rot="20760000">
            <a:off x="-1463040" y="3840480"/>
            <a:ext cx="16093440" cy="457200"/>
          </a:xfrm>
          <a:prstGeom prst="parallelogram">
            <a:avLst/>
          </a:prstGeom>
          <a:solidFill>
            <a:srgbClr val="9B6B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rallelogram 5"/>
          <p:cNvSpPr/>
          <p:nvPr/>
        </p:nvSpPr>
        <p:spPr>
          <a:xfrm rot="20760000">
            <a:off x="-1463040" y="1645920"/>
            <a:ext cx="16093440" cy="256032"/>
          </a:xfrm>
          <a:prstGeom prst="parallelogram">
            <a:avLst/>
          </a:prstGeom>
          <a:solidFill>
            <a:srgbClr val="00FF9D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932688"/>
            <a:ext cx="2286000" cy="41148"/>
          </a:xfrm>
          <a:prstGeom prst="rect">
            <a:avLst/>
          </a:prstGeom>
          <a:solidFill>
            <a:srgbClr val="00D9F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1060704"/>
            <a:ext cx="1554480" cy="41148"/>
          </a:xfrm>
          <a:prstGeom prst="rect">
            <a:avLst/>
          </a:prstGeom>
          <a:solidFill>
            <a:srgbClr val="00D9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1188720"/>
            <a:ext cx="914400" cy="41148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ightning Bolt 9"/>
          <p:cNvSpPr/>
          <p:nvPr/>
        </p:nvSpPr>
        <p:spPr>
          <a:xfrm>
            <a:off x="9144001" y="594361"/>
            <a:ext cx="2057398" cy="4069078"/>
          </a:xfrm>
          <a:prstGeom prst="lightningBolt">
            <a:avLst/>
          </a:prstGeom>
          <a:solidFill>
            <a:srgbClr val="00D9FF">
              <a:alpha val="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Lightning Bolt 10"/>
          <p:cNvSpPr/>
          <p:nvPr/>
        </p:nvSpPr>
        <p:spPr>
          <a:xfrm>
            <a:off x="9281160" y="731520"/>
            <a:ext cx="1783080" cy="3794760"/>
          </a:xfrm>
          <a:prstGeom prst="lightningBolt">
            <a:avLst/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ightning Bolt 11"/>
          <p:cNvSpPr/>
          <p:nvPr/>
        </p:nvSpPr>
        <p:spPr>
          <a:xfrm>
            <a:off x="9418320" y="868680"/>
            <a:ext cx="1508760" cy="3520440"/>
          </a:xfrm>
          <a:prstGeom prst="lightningBolt">
            <a:avLst/>
          </a:prstGeom>
          <a:solidFill>
            <a:srgbClr val="00D9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ightning Bolt 12"/>
          <p:cNvSpPr/>
          <p:nvPr/>
        </p:nvSpPr>
        <p:spPr>
          <a:xfrm>
            <a:off x="9555480" y="1005840"/>
            <a:ext cx="1234440" cy="3246120"/>
          </a:xfrm>
          <a:prstGeom prst="lightningBol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ightning Bolt 13"/>
          <p:cNvSpPr/>
          <p:nvPr/>
        </p:nvSpPr>
        <p:spPr>
          <a:xfrm>
            <a:off x="10835640" y="2514600"/>
            <a:ext cx="685800" cy="1783080"/>
          </a:xfrm>
          <a:prstGeom prst="lightningBolt">
            <a:avLst/>
          </a:prstGeom>
          <a:solidFill>
            <a:srgbClr val="9B6BFF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389888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HARNESS ENGINEERING KIT  ·  REPOSITORY-NATIVE 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810512"/>
            <a:ext cx="859536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 AI 写码，变成</a:t>
            </a:r>
          </a:p>
          <a:p>
            <a:pPr>
              <a:spcBef>
                <a:spcPts val="400"/>
              </a:spcBef>
            </a:pPr>
            <a:r>
              <a:rPr sz="42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可控、可批、可验、可审计的工程</a:t>
            </a:r>
          </a:p>
          <a:p>
            <a:pPr>
              <a:spcBef>
                <a:spcPts val="800"/>
              </a:spcBef>
            </a:pPr>
            <a:r>
              <a:rPr sz="16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打通 LLM → Coding Agent → Project 的最后一公里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28032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辅助软件变更的仓库内控制系统：</a:t>
            </a:r>
            <a:r>
              <a:rPr sz="14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面向工程师的全栈工程方法论 + 可落地工具链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504688"/>
            <a:ext cx="1069848" cy="310896"/>
          </a:xfrm>
          <a:prstGeom prst="roundRect">
            <a:avLst>
              <a:gd name="adj" fmla="val 50000"/>
            </a:avLst>
          </a:prstGeom>
          <a:solidFill>
            <a:srgbClr val="0B1120"/>
          </a:solidFill>
          <a:ln w="12700">
            <a:solidFill>
              <a:srgbClr val="00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v0.5.1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2264" y="5504688"/>
            <a:ext cx="2793491" cy="310896"/>
          </a:xfrm>
          <a:prstGeom prst="roundRect">
            <a:avLst>
              <a:gd name="adj" fmla="val 50000"/>
            </a:avLst>
          </a:prstGeom>
          <a:solidFill>
            <a:srgbClr val="0B1120"/>
          </a:solidFill>
          <a:ln w="12700">
            <a:solidFill>
              <a:srgbClr val="00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MIT · OpenSpec 1.12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33771" y="550468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B1120"/>
          </a:solidFill>
          <a:ln w="12700">
            <a:solidFill>
              <a:srgbClr val="00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多 Agent 适配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1987" y="5504688"/>
            <a:ext cx="1202436" cy="310896"/>
          </a:xfrm>
          <a:prstGeom prst="roundRect">
            <a:avLst>
              <a:gd name="adj" fmla="val 50000"/>
            </a:avLst>
          </a:prstGeom>
          <a:solidFill>
            <a:srgbClr val="0B1120"/>
          </a:solidFill>
          <a:ln w="12700">
            <a:solidFill>
              <a:srgbClr val="00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上下文中英双语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0533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分享人：沈学海   ·   </a:t>
            </a:r>
            <a:r>
              <a:rPr sz="11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仓库地址：github.com/8425334/harness-engineering-kit   ·   技术团队内部知识分享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今天我们按“为什么 → 是什么 → 怎么转 → 怎么长 → 怎么用”五段展开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1572768"/>
            <a:ext cx="10515600" cy="841248"/>
          </a:xfrm>
          <a:prstGeom prst="roundRect">
            <a:avLst>
              <a:gd name="adj" fmla="val 14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1572768"/>
            <a:ext cx="118872" cy="841248"/>
          </a:xfrm>
          <a:prstGeom prst="rect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1664208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01  Why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1645920"/>
            <a:ext cx="49834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为什么 AI 能写码，却不能可靠交付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664208"/>
            <a:ext cx="3063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上下文 / 契约 / 验证 三缺失；LLM 智能 vs 工程确定性的分工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2532888"/>
            <a:ext cx="10515600" cy="841248"/>
          </a:xfrm>
          <a:prstGeom prst="roundRect">
            <a:avLst>
              <a:gd name="adj" fmla="val 14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2532888"/>
            <a:ext cx="118872" cy="841248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2624328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02  What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2606040"/>
            <a:ext cx="49834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Harness 是什么、仓库里放了什么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624328"/>
            <a:ext cx="3063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8 层职责 · OpenSpec 角色 · 确定性上下文 + Token 成本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493008"/>
            <a:ext cx="10515600" cy="841248"/>
          </a:xfrm>
          <a:prstGeom prst="roundRect">
            <a:avLst>
              <a:gd name="adj" fmla="val 14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3493008"/>
            <a:ext cx="118872" cy="841248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3584448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03  How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3566160"/>
            <a:ext cx="49834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一次受控变更如何运转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584448"/>
            <a:ext cx="3063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OpenSpec 生命周期 + Delta Specs + 治理外壳 + 全栈并行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453128"/>
            <a:ext cx="10515600" cy="841248"/>
          </a:xfrm>
          <a:prstGeom prst="roundRect">
            <a:avLst>
              <a:gd name="adj" fmla="val 14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" y="4453128"/>
            <a:ext cx="118872" cy="841248"/>
          </a:xfrm>
          <a:prstGeom prst="rect">
            <a:avLst/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568" y="4544568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04  Grow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4680" y="4526280"/>
            <a:ext cx="49834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错误如何反哺成门禁与经验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544568"/>
            <a:ext cx="3063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需求反思 · Self-Refine · 经验记忆 · Fitness 四层反馈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413248"/>
            <a:ext cx="10515600" cy="841248"/>
          </a:xfrm>
          <a:prstGeom prst="roundRect">
            <a:avLst>
              <a:gd name="adj" fmla="val 14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" y="5413248"/>
            <a:ext cx="118872" cy="841248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5568" y="5504688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05  Use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80" y="5486400"/>
            <a:ext cx="49834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如何接入与工程化落地成品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5504688"/>
            <a:ext cx="3063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hek init / Tier / 多 Agent / aegis 真实项目落地展示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为什么 · 是什么 · 怎么转 · 怎么长 · 怎么用   |  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WHY · 现场痛点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一句话让 AI 写代码很容易，让它“可靠交付”很难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813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3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400" b="1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模型不缺能力，缺的是它周围的工程环境。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148840"/>
            <a:ext cx="3383280" cy="2011680"/>
          </a:xfrm>
          <a:prstGeom prst="roundRect">
            <a:avLst>
              <a:gd name="adj" fmla="val 7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214884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3383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上下文缺失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74320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不知道模块边界 / 依赖方向 / 允许的命令 / 领域规则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5A5A"/>
                </a:solidFill>
                <a:latin typeface="Microsoft YaHei"/>
                <a:ea typeface="Microsoft YaHei"/>
                <a:cs typeface="Microsoft YaHei"/>
              </a:rPr>
              <a:t>⚠ 只能靠临时搜索“猜”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2148840"/>
            <a:ext cx="3383280" cy="2011680"/>
          </a:xfrm>
          <a:prstGeom prst="roundRect">
            <a:avLst>
              <a:gd name="adj" fmla="val 7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34840" y="214884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2194560"/>
            <a:ext cx="3383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契约缺失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274320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需求直接进实现，边写边改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5A5A"/>
                </a:solidFill>
                <a:latin typeface="Microsoft YaHei"/>
                <a:ea typeface="Microsoft YaHei"/>
                <a:cs typeface="Microsoft YaHei"/>
              </a:rPr>
              <a:t>⚠ 职责漂移、边界模糊、测试无从写起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148840"/>
            <a:ext cx="3383280" cy="2011680"/>
          </a:xfrm>
          <a:prstGeom prst="roundRect">
            <a:avLst>
              <a:gd name="adj" fmla="val 7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46720" y="214884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2194560"/>
            <a:ext cx="3383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验证缺失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74320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“编译通过”≠“行为正确”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5A5A"/>
                </a:solidFill>
                <a:latin typeface="Microsoft YaHei"/>
                <a:ea typeface="Microsoft YaHei"/>
                <a:cs typeface="Microsoft YaHei"/>
              </a:rPr>
              <a:t>⚠ 没有门禁与证据，“代码生成了”被当成“做完了”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43484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4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一次提问 = 一次一次性回答；速度越快，未经约束的产出与返工越多。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4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▍ 核心理念（贯穿全篇）：</a:t>
            </a:r>
            <a:r>
              <a:rPr sz="1400" b="1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LLM 提供“智能 / 生成”，Harness 提供“组织、约束、验证与证据”——两者几乎不重叠，缺一不可。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Why   |  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WHY · 第一性分工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LLM 擅长生成，Harness 擅长确定——这是一条天然分工线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822960" y="1554480"/>
          <a:ext cx="10561319" cy="2157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5533"/>
                <a:gridCol w="3673502"/>
                <a:gridCol w="4362284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54864" marT="18288" marB="18288" anchor="ctr">
                    <a:solidFill>
                      <a:srgbClr val="00D9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LLM 擅长（认知）</a:t>
                      </a:r>
                    </a:p>
                  </a:txBody>
                  <a:tcPr marL="73152" marR="54864" marT="18288" marB="18288" anchor="ctr">
                    <a:solidFill>
                      <a:srgbClr val="00D9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Harness 擅长（工程）</a:t>
                      </a:r>
                    </a:p>
                  </a:txBody>
                  <a:tcPr marL="73152" marR="54864" marT="18288" marB="18288" anchor="ctr">
                    <a:solidFill>
                      <a:srgbClr val="00D9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理解自然语言 · 归纳推理 · 生成代码 · 发现模式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保持上下文一致 · 强制流程 · 控制权限边界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状态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单次调用无状态（不“记住”上次）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管理生命周期状态 · 复用阶段产物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验证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只能自述“应该没问题”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用门禁 / 测试 / 证据自动验证 · 记录审计轨迹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流程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不会自动按多步流程执行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 Explore→Apply→Archive 推进每个非平凡变更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822960" y="434340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1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关键判断：</a:t>
            </a:r>
            <a:r>
              <a:rPr sz="12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LLM 回答“它能做”，Harness 决定“允许它怎么做、做完怎么证明”。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1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LLM 天然特点 → 设计推论：</a:t>
            </a:r>
            <a:r>
              <a:rPr sz="12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上下文决定质量与上限 → 最小化而稳定的上下文、缓存复用；输出概率性 → 外部确定性门禁；调用无状态 → 把状态放进仓库工作区。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Why   |  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WHAT · 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Harness 是什么：Agent 工程的三级演进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127248"/>
            <a:ext cx="1993392" cy="1554480"/>
          </a:xfrm>
          <a:prstGeom prst="roundRect">
            <a:avLst>
              <a:gd name="adj" fmla="val 7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255264"/>
            <a:ext cx="1719072" cy="1335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① Prompt Engineering</a:t>
            </a:r>
          </a:p>
          <a:p>
            <a:pPr>
              <a:spcBef>
                <a:spcPts val="200"/>
              </a:spcBef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提示词工程 · 把话说清楚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怎么问，决定单次产出的好坏；规则只活在提示词里，换会话即丢。</a:t>
            </a:r>
          </a:p>
          <a:p>
            <a:pPr>
              <a:spcBef>
                <a:spcPts val="500"/>
              </a:spcBef>
            </a:pPr>
            <a:r>
              <a:rPr sz="9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控制：一次调用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61488" y="2304288"/>
            <a:ext cx="1993392" cy="2377440"/>
          </a:xfrm>
          <a:prstGeom prst="roundRect">
            <a:avLst>
              <a:gd name="adj" fmla="val 7000"/>
            </a:avLst>
          </a:prstGeom>
          <a:solidFill>
            <a:srgbClr val="0A2230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07792" y="2432304"/>
            <a:ext cx="1719072" cy="2157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② Context Engineering</a:t>
            </a:r>
          </a:p>
          <a:p>
            <a:pPr>
              <a:spcBef>
                <a:spcPts val="200"/>
              </a:spcBef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上下文工程 · 喂对料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确定性加载最小而稳定的项目上下文，Token 即成本；模型知道该知道的，但做完没证据、没门禁。</a:t>
            </a:r>
          </a:p>
          <a:p>
            <a:pPr>
              <a:spcBef>
                <a:spcPts val="500"/>
              </a:spcBef>
            </a:pPr>
            <a:r>
              <a:rPr sz="9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控制：一次会话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6048" y="1481328"/>
            <a:ext cx="1993392" cy="3200400"/>
          </a:xfrm>
          <a:prstGeom prst="roundRect">
            <a:avLst>
              <a:gd name="adj" fmla="val 7000"/>
            </a:avLst>
          </a:prstGeom>
          <a:solidFill>
            <a:srgbClr val="0C241F"/>
          </a:solidFill>
          <a:ln w="15875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2352" y="1609344"/>
            <a:ext cx="1719072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③ Harness Engineering</a:t>
            </a:r>
          </a:p>
          <a:p>
            <a:pPr>
              <a:spcBef>
                <a:spcPts val="200"/>
              </a:spcBef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缰绳工程 · 装系统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给模型外围装上工程系统：工具循环 + 规格 / 审批 / 门禁 / 证据的治理——不仅会做，还被允许做、可证明做完。</a:t>
            </a:r>
          </a:p>
          <a:p>
            <a:pPr>
              <a:spcBef>
                <a:spcPts val="500"/>
              </a:spcBef>
            </a:pPr>
            <a:r>
              <a:rPr sz="9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控制：整个变更生命周期</a:t>
            </a:r>
          </a:p>
          <a:p>
            <a:pPr>
              <a:spcBef>
                <a:spcPts val="300"/>
              </a:spcBef>
            </a:pPr>
            <a:r>
              <a:rPr sz="9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内部分两层 ▶ 见右图</a:t>
            </a:r>
          </a:p>
        </p:txBody>
      </p:sp>
      <p:sp>
        <p:nvSpPr>
          <p:cNvPr id="20" name="Up Arrow 19"/>
          <p:cNvSpPr/>
          <p:nvPr/>
        </p:nvSpPr>
        <p:spPr>
          <a:xfrm>
            <a:off x="2596896" y="2395728"/>
            <a:ext cx="128016" cy="658368"/>
          </a:xfrm>
          <a:prstGeom prst="upArrow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Up Arrow 20"/>
          <p:cNvSpPr/>
          <p:nvPr/>
        </p:nvSpPr>
        <p:spPr>
          <a:xfrm>
            <a:off x="4791456" y="1572768"/>
            <a:ext cx="128016" cy="658368"/>
          </a:xfrm>
          <a:prstGeom prst="upArrow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864608"/>
            <a:ext cx="6382512" cy="749808"/>
          </a:xfrm>
          <a:prstGeom prst="roundRect">
            <a:avLst>
              <a:gd name="adj" fmla="val 12000"/>
            </a:avLst>
          </a:prstGeom>
          <a:solidFill>
            <a:srgbClr val="172038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4864608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0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叠加，不是替代：</a:t>
            </a: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①② 仍然生效，③ 把它们连同治理装进一个系统。模型越强，瓶颈越从「怎么问」→「喂什么」→「怎么管」。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35520" y="1325880"/>
            <a:ext cx="4165600" cy="2423160"/>
          </a:xfrm>
          <a:prstGeom prst="roundRect">
            <a:avLst>
              <a:gd name="adj" fmla="val 35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harness-metaphor-b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6960" y="1417320"/>
            <a:ext cx="3982720" cy="22402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223760" y="3730752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比喻：LLM 是马 · 缰绳引方向 · 皮鞭立规矩（作用标注在图中）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23760" y="4041648"/>
            <a:ext cx="4389120" cy="1828800"/>
          </a:xfrm>
          <a:prstGeom prst="roundRect">
            <a:avLst>
              <a:gd name="adj" fmla="val 9000"/>
            </a:avLst>
          </a:prstGeom>
          <a:solidFill>
            <a:srgbClr val="0C241F"/>
          </a:solidFill>
          <a:ln w="15875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43216" y="4169663"/>
            <a:ext cx="3977639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阶段③ 的两层（对应左图）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缰绳 </a:t>
            </a:r>
            <a:r>
              <a:rPr sz="10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Agent Harness</a:t>
            </a:r>
            <a:r>
              <a:rPr sz="10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 会话层——随工具走：换工具、换会话即失效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0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皮鞭 </a:t>
            </a:r>
            <a:r>
              <a:rPr sz="10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Project Harness</a:t>
            </a:r>
            <a:r>
              <a:rPr sz="10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 仓库层——随仓库走：对每个 Agent 同时生效</a:t>
            </a:r>
          </a:p>
          <a:p>
            <a:pPr>
              <a:spcBef>
                <a:spcPts val="600"/>
              </a:spcBef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本讲主角 HEK，就是那把皮鞭。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What · Harness 概念   |  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WHAT · 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Harness Engineering Kit：仓库内控制系统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517904"/>
            <a:ext cx="60350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1000"/>
              </a:spcAft>
            </a:pPr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解决的问题</a:t>
            </a:r>
            <a:r>
              <a:rPr sz="12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把 AI 软件变更中的上下文、决策、审批、验证、同步、生产控制与审计证据，从“人脑规则 + 超长根 Prompt”变成仓库里可执行、可门禁、可复用的契约。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1000"/>
              </a:spcAft>
            </a:pPr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50" b="1" i="0">
                <a:solidFill>
                  <a:srgbClr val="FF5A5A"/>
                </a:solidFill>
                <a:latin typeface="Microsoft YaHei"/>
                <a:ea typeface="Microsoft YaHei"/>
                <a:cs typeface="Microsoft YaHei"/>
              </a:rPr>
              <a:t>它不是</a:t>
            </a:r>
            <a:r>
              <a:rPr sz="12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Prompt 技巧集、编码规范文档、或替代 OpenSpec 的第二套生命周期。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1000"/>
              </a:spcAft>
            </a:pPr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它是</a:t>
            </a:r>
            <a:r>
              <a:rPr sz="12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一套“默认对 AI 生效”的项目级工程运行时：装好后，非平凡变更自动被引导走完整生命周期。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1572768"/>
            <a:ext cx="4114800" cy="1051560"/>
          </a:xfrm>
          <a:prstGeom prst="roundRect">
            <a:avLst>
              <a:gd name="adj" fmla="val 12000"/>
            </a:avLst>
          </a:prstGeom>
          <a:solidFill>
            <a:srgbClr val="172038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1645920"/>
            <a:ext cx="37490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没有 Harness（一次性）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用户问题 → LLM → 一次性答案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9144000" y="2670048"/>
            <a:ext cx="384048" cy="384048"/>
          </a:xfrm>
          <a:prstGeom prst="downArrow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3127248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↓  沉淀成可执行工程闭环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3611880"/>
            <a:ext cx="4114800" cy="2194560"/>
          </a:xfrm>
          <a:prstGeom prst="roundRect">
            <a:avLst>
              <a:gd name="adj" fmla="val 10000"/>
            </a:avLst>
          </a:prstGeom>
          <a:solidFill>
            <a:srgbClr val="0A2230"/>
          </a:solidFill>
          <a:ln w="12700">
            <a:solidFill>
              <a:srgbClr val="00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730752"/>
            <a:ext cx="374903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有 Harness（工程闭环）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需求 → 加载上下文</a:t>
            </a:r>
          </a:p>
          <a:p>
            <a:pPr>
              <a:spcBef>
                <a:spcPts val="250"/>
              </a:spcBef>
            </a:pP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规格 / 建模（契约）</a:t>
            </a:r>
          </a:p>
          <a:p>
            <a:pPr>
              <a:spcBef>
                <a:spcPts val="250"/>
              </a:spcBef>
            </a:pP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审批（绑定契约摘要）</a:t>
            </a:r>
          </a:p>
          <a:p>
            <a:pPr>
              <a:spcBef>
                <a:spcPts val="250"/>
              </a:spcBef>
            </a:pP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受控执行 + 逐任务证据</a:t>
            </a:r>
          </a:p>
          <a:p>
            <a:pPr>
              <a:spcBef>
                <a:spcPts val="250"/>
              </a:spcBef>
            </a:pP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门禁验证 → 交付 / 修正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What   |  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WHAT · 仓库结构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每个概念对应仓库里的真实文件——每一层只干一件事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417320"/>
          <a:ext cx="11201397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898"/>
                <a:gridCol w="3828326"/>
                <a:gridCol w="3686536"/>
                <a:gridCol w="2268637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概念</a:t>
                      </a:r>
                    </a:p>
                  </a:txBody>
                  <a:tcPr marL="73152" marR="54864" marT="18288" marB="18288" anchor="ctr">
                    <a:solidFill>
                      <a:srgbClr val="9B6B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落地文件</a:t>
                      </a:r>
                    </a:p>
                  </a:txBody>
                  <a:tcPr marL="73152" marR="54864" marT="18288" marB="18288" anchor="ctr">
                    <a:solidFill>
                      <a:srgbClr val="9B6B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负责</a:t>
                      </a:r>
                    </a:p>
                  </a:txBody>
                  <a:tcPr marL="73152" marR="54864" marT="18288" marB="18288" anchor="ctr">
                    <a:solidFill>
                      <a:srgbClr val="9B6B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不负责</a:t>
                      </a:r>
                    </a:p>
                  </a:txBody>
                  <a:tcPr marL="73152" marR="54864" marT="18288" marB="18288" anchor="ctr">
                    <a:solidFill>
                      <a:srgbClr val="9B6B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入口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根 CLAUDE.md / AGENTS.md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权威 · 安全 · 必读 · Skill 路由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命令 / 完整方法论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策略（唯一事实）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docs/methodology/agent-policy.yaml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命令 · 路径 · 权限 · 交付引用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任务级设计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方法论档位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profile.yaml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档位 · Self-Refine 策略 · 审批要求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命令与权限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上下文索引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根 ai.json（≤4096 B）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机器可读项目地图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命令 / 详细规则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路径上下文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AI.md（≤400 行）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局部职责 · 边界 · 导航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覆盖上层指令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编排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engineering Skill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 · 编排生命周期 · 记录证据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重复项目约定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变更工作区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openspec/changes/&lt;id&gt;/（OpenSpec）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proposal · spec · design · tasks 四件套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治理证据（侧车附加）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治理侧车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change 内 governance.json + evidence/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审批 · 执行 / Review / Fitness / 生产证据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状态机与任务定义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质量门禁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docs/fitness/**（受保护）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定义“真正完成”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被 Agent 修改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822960" y="480060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权威顺序（固定、不可覆盖）：</a:t>
            </a:r>
          </a:p>
          <a:p>
            <a:pPr>
              <a:spcBef>
                <a:spcPts val="300"/>
              </a:spcBef>
            </a:pP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原生指令层级 → agent-policy.yaml → 根 ai.json → 命中的 AI.md（父到子） → Profile 默认值；仓库文本一律视为不可信输入。</a:t>
            </a:r>
          </a:p>
          <a:p>
            <a:pPr>
              <a:spcBef>
                <a:spcPts val="500"/>
              </a:spcBef>
            </a:pPr>
            <a:r>
              <a:rPr sz="1100" b="0" i="1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工作区与侧车同居一个目录、归属不同：OpenSpec 拥有生命周期四件套，Engineering 只附加治理证据。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What   |  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WHAT · OPENSPEC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先写规格、再写代码：规格驱动开发（SDD）与 change 工作区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81328"/>
            <a:ext cx="5623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900"/>
              </a:spcAft>
            </a:pPr>
            <a:r>
              <a:rPr sz="11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OpenSpec 是什么：</a:t>
            </a: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开源的规格驱动开发框架，为“需求 → 规格 → 实现”提供标准化产物、状态机与校验（本仓库基于 v1.12）。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900"/>
              </a:spcAft>
            </a:pPr>
            <a:r>
              <a:rPr sz="11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规格先行：</a:t>
            </a: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用 WHEN/THEN 描述系统的可观测行为，先对齐“要什么”，再讨论“怎么做”。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900"/>
              </a:spcAft>
            </a:pPr>
            <a:r>
              <a:rPr sz="11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规格即权威：</a:t>
            </a: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代码实现规格、验证对照规格——文档从事后注释，变成可执行的事实源。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900"/>
              </a:spcAft>
            </a:pPr>
            <a:r>
              <a:rPr sz="11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一个变更 = 一个 change 工作区：</a:t>
            </a: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四件套产物分别回答：为什么做（proposal）· 要什么行为（spec）· 怎么做（design）· 分几步（tasks）。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1444752"/>
            <a:ext cx="4663440" cy="2304288"/>
          </a:xfrm>
          <a:prstGeom prst="roundRect">
            <a:avLst>
              <a:gd name="adj" fmla="val 6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0" y="1444752"/>
            <a:ext cx="91440" cy="2304288"/>
          </a:xfrm>
          <a:prstGeom prst="roundRect">
            <a:avLst>
              <a:gd name="adj" fmla="val 5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1563624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OpenSpec 原生产物（生命周期所有者）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152" y="1920240"/>
            <a:ext cx="4251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450"/>
              </a:spcAft>
            </a:pPr>
            <a:r>
              <a:rPr sz="950" b="1" i="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proposal.md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  为什么做 · 范围与影响</a:t>
            </a:r>
          </a:p>
          <a:p>
            <a:pPr>
              <a:lnSpc>
                <a:spcPct val="105000"/>
              </a:lnSpc>
              <a:spcAft>
                <a:spcPts val="450"/>
              </a:spcAft>
            </a:pPr>
            <a:r>
              <a:rPr sz="950" b="1" i="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specs/&lt;能力&gt;/spec.md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  WHEN/THEN 行为规格（增量）</a:t>
            </a:r>
          </a:p>
          <a:p>
            <a:pPr>
              <a:lnSpc>
                <a:spcPct val="105000"/>
              </a:lnSpc>
              <a:spcAft>
                <a:spcPts val="450"/>
              </a:spcAft>
            </a:pPr>
            <a:r>
              <a:rPr sz="950" b="1" i="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design.md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  技术方案 · 取舍 · 决策</a:t>
            </a:r>
          </a:p>
          <a:p>
            <a:pPr>
              <a:lnSpc>
                <a:spcPct val="105000"/>
              </a:lnSpc>
              <a:spcAft>
                <a:spcPts val="450"/>
              </a:spcAft>
            </a:pPr>
            <a:r>
              <a:rPr sz="950" b="1" i="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tasks.md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  任务分解与勾选 · 唯一进度源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3895344"/>
            <a:ext cx="4663440" cy="2304288"/>
          </a:xfrm>
          <a:prstGeom prst="roundRect">
            <a:avLst>
              <a:gd name="adj" fmla="val 6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75120" y="3895344"/>
            <a:ext cx="91440" cy="2304288"/>
          </a:xfrm>
          <a:prstGeom prst="roundRect">
            <a:avLst>
              <a:gd name="adj" fmla="val 50000"/>
            </a:avLst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4014216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Harness 治理侧车（governance.json 总账）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4370832"/>
            <a:ext cx="4251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450"/>
              </a:spcAft>
            </a:pPr>
            <a:r>
              <a:rPr sz="950" b="1" i="0">
                <a:solidFill>
                  <a:srgbClr val="00FF9D"/>
                </a:solidFill>
                <a:latin typeface="Consolas"/>
                <a:ea typeface="Consolas"/>
                <a:cs typeface="Consolas"/>
              </a:rPr>
              <a:t>approval.json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  外部审批 · 绑定契约摘要</a:t>
            </a:r>
          </a:p>
          <a:p>
            <a:pPr>
              <a:lnSpc>
                <a:spcPct val="105000"/>
              </a:lnSpc>
              <a:spcAft>
                <a:spcPts val="450"/>
              </a:spcAft>
            </a:pPr>
            <a:r>
              <a:rPr sz="950" b="1" i="0">
                <a:solidFill>
                  <a:srgbClr val="00FF9D"/>
                </a:solidFill>
                <a:latin typeface="Consolas"/>
                <a:ea typeface="Consolas"/>
                <a:cs typeface="Consolas"/>
              </a:rPr>
              <a:t>execution-evidence.json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  逐任务成功执行的证据</a:t>
            </a:r>
          </a:p>
          <a:p>
            <a:pPr>
              <a:lnSpc>
                <a:spcPct val="105000"/>
              </a:lnSpc>
              <a:spcAft>
                <a:spcPts val="450"/>
              </a:spcAft>
            </a:pPr>
            <a:r>
              <a:rPr sz="950" b="1" i="0">
                <a:solidFill>
                  <a:srgbClr val="00FF9D"/>
                </a:solidFill>
                <a:latin typeface="Consolas"/>
                <a:ea typeface="Consolas"/>
                <a:cs typeface="Consolas"/>
              </a:rPr>
              <a:t>review / sync / archive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  各阶段证据与合并摘要</a:t>
            </a:r>
          </a:p>
          <a:p>
            <a:pPr>
              <a:lnSpc>
                <a:spcPct val="105000"/>
              </a:lnSpc>
              <a:spcAft>
                <a:spcPts val="450"/>
              </a:spcAft>
            </a:pPr>
            <a:r>
              <a:rPr sz="950" b="1" i="0">
                <a:solidFill>
                  <a:srgbClr val="00FF9D"/>
                </a:solidFill>
                <a:latin typeface="Consolas"/>
                <a:ea typeface="Consolas"/>
                <a:cs typeface="Consolas"/>
              </a:rPr>
              <a:t>evidence/*.jsonl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  事件流与失败记录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617720"/>
            <a:ext cx="5623560" cy="1581912"/>
          </a:xfrm>
          <a:prstGeom prst="roundRect">
            <a:avLst>
              <a:gd name="adj" fmla="val 90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754880"/>
            <a:ext cx="5257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本仓库的角色：自定义 harness-engineering schema</a:t>
            </a:r>
          </a:p>
          <a:p>
            <a:pPr>
              <a:lnSpc>
                <a:spcPct val="110000"/>
              </a:lnSpc>
              <a:spcBef>
                <a:spcPts val="45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保留 OpenSpec 原生产物与任务格式，不另起炉灶</a:t>
            </a:r>
          </a:p>
          <a:p>
            <a:pPr>
              <a:lnSpc>
                <a:spcPct val="110000"/>
              </a:lnSpc>
              <a:spcBef>
                <a:spcPts val="45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把 design 强化成“可实施方案包”，供人审批</a:t>
            </a:r>
          </a:p>
          <a:p>
            <a:pPr>
              <a:lnSpc>
                <a:spcPct val="110000"/>
              </a:lnSpc>
              <a:spcBef>
                <a:spcPts val="45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要求逐任务证据，把“勾选”变成“可验证完成”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What · OpenSpec   |  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WHAT · 上下文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确定性上下文加载：改代码前，先知道自己“站在哪”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44752"/>
            <a:ext cx="10698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同一路径，永远得到同一套事实：</a:t>
            </a:r>
            <a:r>
              <a:rPr sz="13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resolve_context.py 按固定顺序解析加载链——顺序不可变、逐层只补充、失败即停。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057400"/>
            <a:ext cx="5394960" cy="658368"/>
          </a:xfrm>
          <a:prstGeom prst="roundRect">
            <a:avLst>
              <a:gd name="adj" fmla="val 14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2057400"/>
            <a:ext cx="566928" cy="658368"/>
          </a:xfrm>
          <a:prstGeom prst="roundRect">
            <a:avLst>
              <a:gd name="adj" fmla="val 14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5740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205740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agent-policy.yaml   </a:t>
            </a:r>
            <a:r>
              <a:rPr sz="10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命令 · 权限 · 禁区（唯一事实源）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2715768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2898648"/>
            <a:ext cx="5394960" cy="658368"/>
          </a:xfrm>
          <a:prstGeom prst="roundRect">
            <a:avLst>
              <a:gd name="adj" fmla="val 14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2898648"/>
            <a:ext cx="566928" cy="658368"/>
          </a:xfrm>
          <a:prstGeom prst="roundRect">
            <a:avLst>
              <a:gd name="adj" fmla="val 14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898648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36192" y="2898648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profile.yaml   </a:t>
            </a:r>
            <a:r>
              <a:rPr sz="10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方法论档位与审批要求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3557016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739896"/>
            <a:ext cx="5394960" cy="658368"/>
          </a:xfrm>
          <a:prstGeom prst="roundRect">
            <a:avLst>
              <a:gd name="adj" fmla="val 14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3739896"/>
            <a:ext cx="566928" cy="658368"/>
          </a:xfrm>
          <a:prstGeom prst="roundRect">
            <a:avLst>
              <a:gd name="adj" fmla="val 14000"/>
            </a:avLst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739896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3739896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ai.json   </a:t>
            </a:r>
            <a:r>
              <a:rPr sz="10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机器可读项目地图（≤4096 字节）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98264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581144"/>
            <a:ext cx="5394960" cy="658368"/>
          </a:xfrm>
          <a:prstGeom prst="roundRect">
            <a:avLst>
              <a:gd name="adj" fmla="val 14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" y="4581144"/>
            <a:ext cx="566928" cy="658368"/>
          </a:xfrm>
          <a:prstGeom prst="roundRect">
            <a:avLst>
              <a:gd name="adj" fmla="val 14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81144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36192" y="4581144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AI.md（父 → 子）   </a:t>
            </a:r>
            <a:r>
              <a:rPr sz="10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命中路径的职责 · 边界 · 验证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440680"/>
            <a:ext cx="5394960" cy="658368"/>
          </a:xfrm>
          <a:prstGeom prst="roundRect">
            <a:avLst>
              <a:gd name="adj" fmla="val 16000"/>
            </a:avLst>
          </a:prstGeom>
          <a:solidFill>
            <a:srgbClr val="2A1D08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" y="5440680"/>
            <a:ext cx="5029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Fail-closed：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解析失败或缺任一层 → 拒绝开工，而不是带残缺上下文继续。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92240" y="2057400"/>
            <a:ext cx="4892040" cy="2697480"/>
          </a:xfrm>
          <a:prstGeom prst="roundRect">
            <a:avLst>
              <a:gd name="adj" fmla="val 80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93408" y="2212848"/>
            <a:ext cx="45262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为什么路径级，而不是全量上下文？</a:t>
            </a:r>
          </a:p>
          <a:p>
            <a:pPr>
              <a:lnSpc>
                <a:spcPct val="112000"/>
              </a:lnSpc>
              <a:spcBef>
                <a:spcPts val="700"/>
              </a:spcBef>
            </a:pP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Token = 成本：同前缀缓存命中只需约 0.1×</a:t>
            </a:r>
          </a:p>
          <a:p>
            <a:pPr>
              <a:lnSpc>
                <a:spcPct val="112000"/>
              </a:lnSpc>
              <a:spcBef>
                <a:spcPts val="700"/>
              </a:spcBef>
            </a:pP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太长稀释注意力：无关细节拉低生成质量</a:t>
            </a:r>
          </a:p>
          <a:p>
            <a:pPr>
              <a:lnSpc>
                <a:spcPct val="112000"/>
              </a:lnSpc>
              <a:spcBef>
                <a:spcPts val="700"/>
              </a:spcBef>
            </a:pP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权威分级：该知道什么，才加载什么</a:t>
            </a:r>
          </a:p>
          <a:p>
            <a:pPr>
              <a:lnSpc>
                <a:spcPct val="112000"/>
              </a:lnSpc>
              <a:spcBef>
                <a:spcPts val="700"/>
              </a:spcBef>
            </a:pP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可复用前缀：稳定规则前置，任务细节后置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92240" y="5440680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3408" y="5440680"/>
            <a:ext cx="4526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索引负责路由，Markdown 负责解释；</a:t>
            </a:r>
            <a:r>
              <a:rPr sz="11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两层都不能覆盖策略与原生指令。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What   |  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WHAT · 成本工程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Token 是成本与延迟：稳定前缀，只算一次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44752"/>
            <a:ext cx="5120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FF5A5A"/>
                </a:solidFill>
                <a:latin typeface="Microsoft YaHei"/>
                <a:ea typeface="Microsoft YaHei"/>
                <a:cs typeface="Microsoft YaHei"/>
              </a:rPr>
              <a:t>问题：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每次请求都重复发送相同项目上下文（规范/架构/工具），占大量 Token 却几乎不变。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思路：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固定前缀只算一次（Prompt Cache）；变化的只有本次任务增量。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收益：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降成本 · 降首字延迟 · 提高多轮一致性。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401568"/>
            <a:ext cx="5120640" cy="457200"/>
          </a:xfrm>
          <a:prstGeom prst="roundRect">
            <a:avLst>
              <a:gd name="adj" fmla="val 3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47288"/>
            <a:ext cx="4937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仓库侧协议 context_cache.py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977639"/>
            <a:ext cx="5120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500"/>
              </a:spcAft>
            </a:pPr>
            <a:r>
              <a:rPr sz="10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对精确加载顺序做原始字节稳定指纹 → prefix_digest 唯一缓存身份。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500"/>
              </a:spcAft>
            </a:pPr>
            <a:r>
              <a:rPr sz="10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每次请求记录 hit / miss / bypass；只 hit+miss 计入命中率。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500"/>
              </a:spcAft>
            </a:pPr>
            <a:r>
              <a:rPr sz="10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无供应商遥测必须报 bypass，绝不冒充命中。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500"/>
              </a:spcAft>
            </a:pPr>
            <a:r>
              <a:rPr sz="10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长程任务基准目标：命中率 ≥ 99.5%。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500"/>
              </a:spcAft>
            </a:pPr>
            <a:r>
              <a:rPr sz="10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0" i="1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缓存失败是优化失败，不是正确性失败（解析仍 fail-closed）。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545175"/>
            <a:ext cx="5532120" cy="2224849"/>
          </a:xfrm>
          <a:prstGeom prst="roundRect">
            <a:avLst>
              <a:gd name="adj" fmla="val 35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10-context-cache-pre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636615"/>
            <a:ext cx="5349240" cy="204196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63640" y="5833872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▲ 稳定前缀命中缓存：prefix_digest → hit / miss / bypass（仓库白板图）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What   |  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HOW · 生命周期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一次受控变更的主线：OpenSpec 是所有者，Engineering 是治理外壳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evron 13"/>
          <p:cNvSpPr/>
          <p:nvPr/>
        </p:nvSpPr>
        <p:spPr>
          <a:xfrm>
            <a:off x="566928" y="1481328"/>
            <a:ext cx="1810512" cy="566928"/>
          </a:xfrm>
          <a:prstGeom prst="chevron">
            <a:avLst>
              <a:gd name="adj" fmla="val 30000"/>
            </a:avLst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527048"/>
            <a:ext cx="1481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Explore</a:t>
            </a:r>
          </a:p>
        </p:txBody>
      </p:sp>
      <p:sp>
        <p:nvSpPr>
          <p:cNvPr id="16" name="Chevron 15"/>
          <p:cNvSpPr/>
          <p:nvPr/>
        </p:nvSpPr>
        <p:spPr>
          <a:xfrm>
            <a:off x="2450592" y="1481328"/>
            <a:ext cx="1810512" cy="566928"/>
          </a:xfrm>
          <a:prstGeom prst="chevron">
            <a:avLst>
              <a:gd name="adj" fmla="val 3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15184" y="1527048"/>
            <a:ext cx="1481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Propose</a:t>
            </a:r>
          </a:p>
        </p:txBody>
      </p:sp>
      <p:sp>
        <p:nvSpPr>
          <p:cNvPr id="18" name="Chevron 17"/>
          <p:cNvSpPr/>
          <p:nvPr/>
        </p:nvSpPr>
        <p:spPr>
          <a:xfrm>
            <a:off x="4334256" y="1481328"/>
            <a:ext cx="1810512" cy="566928"/>
          </a:xfrm>
          <a:prstGeom prst="chevron">
            <a:avLst>
              <a:gd name="adj" fmla="val 3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98848" y="1527048"/>
            <a:ext cx="1481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Apply</a:t>
            </a:r>
          </a:p>
        </p:txBody>
      </p:sp>
      <p:sp>
        <p:nvSpPr>
          <p:cNvPr id="20" name="Chevron 19"/>
          <p:cNvSpPr/>
          <p:nvPr/>
        </p:nvSpPr>
        <p:spPr>
          <a:xfrm>
            <a:off x="6217920" y="1481328"/>
            <a:ext cx="1810512" cy="566928"/>
          </a:xfrm>
          <a:prstGeom prst="chevron">
            <a:avLst>
              <a:gd name="adj" fmla="val 30000"/>
            </a:avLst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1527048"/>
            <a:ext cx="1481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22" name="Chevron 21"/>
          <p:cNvSpPr/>
          <p:nvPr/>
        </p:nvSpPr>
        <p:spPr>
          <a:xfrm>
            <a:off x="8101584" y="1481328"/>
            <a:ext cx="1810512" cy="566928"/>
          </a:xfrm>
          <a:prstGeom prst="chevron">
            <a:avLst>
              <a:gd name="adj" fmla="val 30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6176" y="1527048"/>
            <a:ext cx="1481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Sync</a:t>
            </a:r>
          </a:p>
        </p:txBody>
      </p:sp>
      <p:sp>
        <p:nvSpPr>
          <p:cNvPr id="24" name="Chevron 23"/>
          <p:cNvSpPr/>
          <p:nvPr/>
        </p:nvSpPr>
        <p:spPr>
          <a:xfrm>
            <a:off x="9985248" y="1481328"/>
            <a:ext cx="1810512" cy="566928"/>
          </a:xfrm>
          <a:prstGeom prst="chevron">
            <a:avLst>
              <a:gd name="adj" fmla="val 30000"/>
            </a:avLst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0" y="1527048"/>
            <a:ext cx="1481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Archive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212848"/>
            <a:ext cx="11064240" cy="502920"/>
          </a:xfrm>
          <a:prstGeom prst="roundRect">
            <a:avLst>
              <a:gd name="adj" fmla="val 30000"/>
            </a:avLst>
          </a:prstGeom>
          <a:solidFill>
            <a:srgbClr val="172038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2258568"/>
            <a:ext cx="10698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OpenSpec 拥有状态机与产物；Engineering 只附加治理证据，绝无第二套 dispatcher / 状态机 / 任务图。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66928" y="2926080"/>
          <a:ext cx="1106423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9313"/>
                <a:gridCol w="4076298"/>
                <a:gridCol w="4658627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</a:t>
                      </a:r>
                    </a:p>
                  </a:txBody>
                  <a:tcPr marL="73152" marR="54864" marT="18288" marB="18288" anchor="ctr">
                    <a:solidFill>
                      <a:srgbClr val="9B6B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OpenSpec 负责</a:t>
                      </a:r>
                    </a:p>
                  </a:txBody>
                  <a:tcPr marL="73152" marR="54864" marT="18288" marB="18288" anchor="ctr">
                    <a:solidFill>
                      <a:srgbClr val="9B6B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Engineering 治理证据</a:t>
                      </a:r>
                    </a:p>
                  </a:txBody>
                  <a:tcPr marL="73152" marR="54864" marT="18288" marB="18288" anchor="ctr">
                    <a:solidFill>
                      <a:srgbClr val="9B6B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Explore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调研 / 澄清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上下文 · 需求反思 · 经验预检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Propose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proposal/specs/design/tasks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Design Review · 审批绑定契约摘要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Apply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执行并勾选 tasks.md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逐任务 execution-evidence · Fitness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Verify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openspec-verify + validate --strict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Review 摘要 · 漂移 · 生产门禁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Sync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合并 delta specs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sync-evidence + 权威摘要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Archive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归档 change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经验闭环 · 生产 CLOSED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How · 生命周期   |  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HOW · 规格演进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Delta Specs：变更带着“规格增量”走流程，最后合回权威库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26464"/>
            <a:ext cx="10698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权威规格库 </a:t>
            </a:r>
            <a:r>
              <a:rPr sz="1250" b="1" i="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openspec/specs/</a:t>
            </a:r>
            <a:r>
              <a:rPr sz="12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 只能通过“走完生命周期的变更”来更新——进行中的想法永远不污染它。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1965960"/>
            <a:ext cx="3246120" cy="1691640"/>
          </a:xfrm>
          <a:prstGeom prst="roundRect">
            <a:avLst>
              <a:gd name="adj" fmla="val 8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1965960"/>
            <a:ext cx="3246120" cy="457200"/>
          </a:xfrm>
          <a:prstGeom prst="roundRect">
            <a:avLst>
              <a:gd name="adj" fmla="val 5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965960"/>
            <a:ext cx="3246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Propose · 写增量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2560320"/>
            <a:ext cx="2880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50"/>
              </a:spcAft>
            </a:pP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change 内 specs/ 只记录差异：</a:t>
            </a:r>
          </a:p>
          <a:p>
            <a:pPr>
              <a:lnSpc>
                <a:spcPct val="105000"/>
              </a:lnSpc>
              <a:spcAft>
                <a:spcPts val="350"/>
              </a:spcAft>
            </a:pP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ADDED / MODIFIED / REMOVED 需求条目</a:t>
            </a:r>
          </a:p>
          <a:p>
            <a:pPr>
              <a:lnSpc>
                <a:spcPct val="105000"/>
              </a:lnSpc>
              <a:spcAft>
                <a:spcPts val="350"/>
              </a:spcAft>
            </a:pP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权威规格库在此阶段保持不动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2560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1965960"/>
            <a:ext cx="3246120" cy="1691640"/>
          </a:xfrm>
          <a:prstGeom prst="roundRect">
            <a:avLst>
              <a:gd name="adj" fmla="val 8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26280" y="1965960"/>
            <a:ext cx="3246120" cy="457200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1965960"/>
            <a:ext cx="3246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Verify · 验一致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2560320"/>
            <a:ext cx="2880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50"/>
              </a:spcAft>
            </a:pP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结构校验：产物完整、格式合法</a:t>
            </a:r>
          </a:p>
          <a:p>
            <a:pPr>
              <a:lnSpc>
                <a:spcPct val="105000"/>
              </a:lnSpc>
              <a:spcAft>
                <a:spcPts val="350"/>
              </a:spcAft>
            </a:pP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一致性校验：实现与规格相符</a:t>
            </a:r>
          </a:p>
          <a:p>
            <a:pPr>
              <a:lnSpc>
                <a:spcPct val="105000"/>
              </a:lnSpc>
              <a:spcAft>
                <a:spcPts val="350"/>
              </a:spcAft>
            </a:pP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两道都过，才允许进入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2560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1965960"/>
            <a:ext cx="3246120" cy="1691640"/>
          </a:xfrm>
          <a:prstGeom prst="roundRect">
            <a:avLst>
              <a:gd name="adj" fmla="val 8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0" y="1965960"/>
            <a:ext cx="3246120" cy="457200"/>
          </a:xfrm>
          <a:prstGeom prst="roundRect">
            <a:avLst>
              <a:gd name="adj" fmla="val 50000"/>
            </a:avLst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1965960"/>
            <a:ext cx="3246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Sync · 授权威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0768" y="2560320"/>
            <a:ext cx="2880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50"/>
              </a:spcAft>
            </a:pP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增量合并回 openspec/specs/</a:t>
            </a:r>
          </a:p>
          <a:p>
            <a:pPr>
              <a:lnSpc>
                <a:spcPct val="105000"/>
              </a:lnSpc>
              <a:spcAft>
                <a:spcPts val="350"/>
              </a:spcAft>
            </a:pP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代码与规格重新对齐</a:t>
            </a:r>
          </a:p>
          <a:p>
            <a:pPr>
              <a:lnSpc>
                <a:spcPct val="105000"/>
              </a:lnSpc>
              <a:spcAft>
                <a:spcPts val="350"/>
              </a:spcAft>
            </a:pP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合并摘要写入 sync 证据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977639"/>
            <a:ext cx="5212080" cy="2103120"/>
          </a:xfrm>
          <a:prstGeom prst="roundRect">
            <a:avLst>
              <a:gd name="adj" fmla="val 7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4114800"/>
            <a:ext cx="47548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为什么用增量，而不是直接改？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权威规格永远描述“当前系统”，而不是“某个进行中的想法”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评审规格增量 = 评审行为变更本身，天然可 diff、可追溯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活跃 change 列表 = 清晰的“进行中”清单，仓库不存在半成品状态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3977639"/>
            <a:ext cx="5120640" cy="2103120"/>
          </a:xfrm>
          <a:prstGeom prst="roundRect">
            <a:avLst>
              <a:gd name="adj" fmla="val 70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114800"/>
            <a:ext cx="4663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防漂移的三道闸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实现与规格不符 → Verify 阶段直接阻断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仓库漂移（DRIFT_DETECTED）→ 停线，先恢复一致性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Sync 记录合并摘要 → 归档时全程可审计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How · 规格演进   |  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HOW · 治理闭环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门禁不靠自述：治理总账 + 审批绑定 + 三条异常轨道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63040"/>
            <a:ext cx="10698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1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governance.json </a:t>
            </a: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（治理侧车总账）记录归属 / Profile / 风险 / 上下文 / 审批 / 执行 / Review / Fitness / 生产证据。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1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门禁：</a:t>
            </a: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每个阶段都要有对应证据才允许推进；结构校验与一致性校验是权威关卡。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2953512"/>
            <a:ext cx="365760" cy="36576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953512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2926080"/>
            <a:ext cx="49194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创建 change</a:t>
            </a:r>
            <a:r>
              <a:rPr sz="10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OpenSpec 原生命令 + 本仓 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3438144"/>
            <a:ext cx="365760" cy="36576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43814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3410712"/>
            <a:ext cx="49194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附加治理</a:t>
            </a:r>
            <a:r>
              <a:rPr sz="10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生成 governance.json 治理总账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3922776"/>
            <a:ext cx="365760" cy="36576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92277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3895344"/>
            <a:ext cx="49194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方案确认</a:t>
            </a:r>
            <a:r>
              <a:rPr sz="10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Design 评审 + 开发者确认清单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4407408"/>
            <a:ext cx="365760" cy="36576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40740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" y="4379976"/>
            <a:ext cx="49194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审批绑定</a:t>
            </a:r>
            <a:r>
              <a:rPr sz="10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记录审批者 · 来源 · 契约摘要</a:t>
            </a:r>
          </a:p>
        </p:txBody>
      </p:sp>
      <p:sp>
        <p:nvSpPr>
          <p:cNvPr id="27" name="Oval 26"/>
          <p:cNvSpPr/>
          <p:nvPr/>
        </p:nvSpPr>
        <p:spPr>
          <a:xfrm>
            <a:off x="822960" y="4892040"/>
            <a:ext cx="365760" cy="36576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89204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4864608"/>
            <a:ext cx="49194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阶段门禁</a:t>
            </a:r>
            <a:r>
              <a:rPr sz="10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证据齐备才放行推进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2880360"/>
            <a:ext cx="4846320" cy="2377440"/>
          </a:xfrm>
          <a:prstGeom prst="roundRect">
            <a:avLst>
              <a:gd name="adj" fmla="val 7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0840" y="3017520"/>
            <a:ext cx="4434840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审批 = 绑定契约摘要；三条异常轨道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15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● CONTRACT_CHANGED  </a:t>
            </a: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Spec/Design/任务图任一变化 → 原授权失效，回 CONTRACT_READY 重新审批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150" b="1" i="0">
                <a:solidFill>
                  <a:srgbClr val="FF5A5A"/>
                </a:solidFill>
                <a:latin typeface="Microsoft YaHei"/>
                <a:ea typeface="Microsoft YaHei"/>
                <a:cs typeface="Microsoft YaHei"/>
              </a:rPr>
              <a:t>● DRIFT_DETECTED  </a:t>
            </a: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仓库漂移 → 停下，先处理一致性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150" b="1" i="0">
                <a:solidFill>
                  <a:srgbClr val="FF5A5A"/>
                </a:solidFill>
                <a:latin typeface="Microsoft YaHei"/>
                <a:ea typeface="Microsoft YaHei"/>
                <a:cs typeface="Microsoft YaHei"/>
              </a:rPr>
              <a:t>● REMEDIATING  </a:t>
            </a: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验证失败 → 回到修复，不得带病归档</a:t>
            </a:r>
          </a:p>
          <a:p>
            <a:pPr>
              <a:lnSpc>
                <a:spcPct val="110000"/>
              </a:lnSpc>
              <a:spcBef>
                <a:spcPts val="700"/>
              </a:spcBef>
            </a:pPr>
            <a:r>
              <a:rPr sz="11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核心：契约一变，授权即失效——这是“审批”与“历史批准”的区别。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How · 治理   |  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HOW · Design 门禁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可实施的设计评审：一份给开发者确认的方案包，而不是内心独白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63040"/>
            <a:ext cx="6583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500"/>
              </a:spcAft>
            </a:pPr>
            <a:r>
              <a:rPr sz="10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产出 design.md，必须覆盖：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目标架构 / 关系拓扑 / 依赖方向（含 Mermaid 图）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职责表：每个组件拥有 / 依赖 / 不得拥有什么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主路径 + 失败/异步路径的运行时序 / 数据流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接口数据：字段 · 类型 · 可空 · 校验 · 错误 · 版本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横切：安全 · 权限 · 并发 · 可观测 · 无障碍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交付顺序 · 迁移 · 回滚 · 显式停止条件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编号决策 + 备选方案与取舍；风险→验证映射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开放问题 + 编号开发者确认清单 C1…Cn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500"/>
              </a:spcAft>
            </a:pPr>
            <a:r>
              <a:rPr sz="10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0" i="1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不可静默省略条件性关切：不适用也要写 “Not applicable — 理由”。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463040"/>
            <a:ext cx="3749039" cy="1874519"/>
          </a:xfrm>
          <a:prstGeom prst="roundRect">
            <a:avLst>
              <a:gd name="adj" fmla="val 90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8120" y="1600200"/>
            <a:ext cx="3383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为什么“先设计后审批”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让评审者在写码前能挑战关键取舍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把“架构/契约/写范围/风险”一次说清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Apply 只消费已审批模型，不做静默重设计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3474720"/>
            <a:ext cx="3749039" cy="1783080"/>
          </a:xfrm>
          <a:prstGeom prst="roundRect">
            <a:avLst>
              <a:gd name="adj" fmla="val 9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3611880"/>
            <a:ext cx="3383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审批前必须向开发者明确呈现</a:t>
            </a:r>
          </a:p>
          <a:p>
            <a:pPr>
              <a:lnSpc>
                <a:spcPct val="108000"/>
              </a:lnSpc>
              <a:spcBef>
                <a:spcPts val="450"/>
              </a:spcBef>
            </a:pPr>
            <a:r>
              <a:rPr sz="108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推荐方案与理由 / 范围 / 非目标</a:t>
            </a:r>
          </a:p>
          <a:p>
            <a:pPr>
              <a:lnSpc>
                <a:spcPct val="108000"/>
              </a:lnSpc>
              <a:spcBef>
                <a:spcPts val="450"/>
              </a:spcBef>
            </a:pPr>
            <a:r>
              <a:rPr sz="108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拓扑图与职责边界 · 关键运行时流</a:t>
            </a:r>
          </a:p>
          <a:p>
            <a:pPr>
              <a:lnSpc>
                <a:spcPct val="108000"/>
              </a:lnSpc>
              <a:spcBef>
                <a:spcPts val="450"/>
              </a:spcBef>
            </a:pPr>
            <a:r>
              <a:rPr sz="108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实现波次与验证策略 · 残留风险</a:t>
            </a:r>
          </a:p>
          <a:p>
            <a:pPr>
              <a:lnSpc>
                <a:spcPct val="108000"/>
              </a:lnSpc>
              <a:spcBef>
                <a:spcPts val="450"/>
              </a:spcBef>
            </a:pPr>
            <a:r>
              <a:rPr sz="108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然后停下来请求明确确认（不得用文件链接代替）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029200"/>
            <a:ext cx="1828800" cy="868680"/>
          </a:xfrm>
          <a:prstGeom prst="roundRect">
            <a:avLst>
              <a:gd name="adj" fmla="val 10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5138928"/>
            <a:ext cx="159105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结构校验</a:t>
            </a:r>
          </a:p>
          <a:p>
            <a:pPr>
              <a:spcBef>
                <a:spcPts val="250"/>
              </a:spcBef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方案包要素齐备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029200"/>
            <a:ext cx="25603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07791" y="5029200"/>
            <a:ext cx="1828800" cy="868680"/>
          </a:xfrm>
          <a:prstGeom prst="roundRect">
            <a:avLst>
              <a:gd name="adj" fmla="val 10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35807" y="5138928"/>
            <a:ext cx="159105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开发者确认</a:t>
            </a:r>
          </a:p>
          <a:p>
            <a:pPr>
              <a:spcBef>
                <a:spcPts val="250"/>
              </a:spcBef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呈现推荐与取舍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1" y="5029200"/>
            <a:ext cx="25603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92622" y="5029200"/>
            <a:ext cx="1828800" cy="868680"/>
          </a:xfrm>
          <a:prstGeom prst="roundRect">
            <a:avLst>
              <a:gd name="adj" fmla="val 10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38" y="5138928"/>
            <a:ext cx="159105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审批绑定</a:t>
            </a:r>
          </a:p>
          <a:p>
            <a:pPr>
              <a:spcBef>
                <a:spcPts val="250"/>
              </a:spcBef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确认后才记录授权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98932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1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先结构、后人为、再授权：脚本保证包完整，人只确认关键取舍。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How · Design   |  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HOW · 执行与证据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Apply：tasks.md 唯一任务源 + 逐任务成功证据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63040"/>
            <a:ext cx="106984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1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OpenSpec tasks.md 是任务定义与勾选进度的唯一来源；Engineering 不维护第二套 DAG / 任务投影 / 复写勾选。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1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每个已勾选任务必须有 1 次成功执行记录，写入 execution-evidence.json。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1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并行是可选机制，不是默认：</a:t>
            </a: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有安全隔离（分支/工作树 / 不重叠写范围）才并行；否则同图串行并记录 fallback 原因。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630168"/>
            <a:ext cx="365760" cy="36576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6301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3611880"/>
            <a:ext cx="537667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OpenSpec tasks.md 勾选</a:t>
            </a:r>
            <a:r>
              <a:rPr sz="10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唯一任务源与进度来源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101084"/>
            <a:ext cx="365760" cy="36576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10108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4082796"/>
            <a:ext cx="537667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任务成功执行一次</a:t>
            </a:r>
            <a:r>
              <a:rPr sz="10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命令退出码 0 · 不逃逸项目根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4572000"/>
            <a:ext cx="365760" cy="36576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572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4553712"/>
            <a:ext cx="537667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写入执行证据</a:t>
            </a:r>
            <a:r>
              <a:rPr sz="10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任务 · 执行者 · 文件 · 时间 · 集成顺序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5042916"/>
            <a:ext cx="365760" cy="36576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04291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" y="5024628"/>
            <a:ext cx="537667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校验通过才推进</a:t>
            </a:r>
            <a:r>
              <a:rPr sz="10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勾选与证据精确一致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48640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1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中断恢复：先查 change 状态再继续——不重放、不跳步。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3566160"/>
            <a:ext cx="4434840" cy="1920240"/>
          </a:xfrm>
          <a:prstGeom prst="roundRect">
            <a:avLst>
              <a:gd name="adj" fmla="val 8000"/>
            </a:avLst>
          </a:prstGeom>
          <a:solidFill>
            <a:srgbClr val="2A1D08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0" y="3675887"/>
            <a:ext cx="4114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执行证据校验 fail-closed 拦截</a:t>
            </a:r>
          </a:p>
          <a:p>
            <a:pPr>
              <a:lnSpc>
                <a:spcPct val="108000"/>
              </a:lnSpc>
              <a:spcBef>
                <a:spcPts val="45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✕ 证据缺失 / 引用未知任务</a:t>
            </a:r>
          </a:p>
          <a:p>
            <a:pPr>
              <a:lnSpc>
                <a:spcPct val="108000"/>
              </a:lnSpc>
              <a:spcBef>
                <a:spcPts val="45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✕ 声称已勾选但未执行</a:t>
            </a:r>
          </a:p>
          <a:p>
            <a:pPr>
              <a:lnSpc>
                <a:spcPct val="108000"/>
              </a:lnSpc>
              <a:spcBef>
                <a:spcPts val="45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✕ 命令非零退出 / 逃逸项目根</a:t>
            </a:r>
          </a:p>
          <a:p>
            <a:pPr>
              <a:lnSpc>
                <a:spcPct val="108000"/>
              </a:lnSpc>
              <a:spcBef>
                <a:spcPts val="45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✕ 与 Review 文件摘要不一致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833872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Review 强制：变更文件摘要 = 计划文件完全一致；勾选 id = 成功执行精确一致；动了职责/契约则 ai.json/AI.md 更新必须在改动集内。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How · Apply   |   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HOW · 为什么需要 RAM/D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写码最大的风险：代码能跑，但悄悄打破系统边界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37160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137160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33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371600"/>
            <a:ext cx="5029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FF5A5A"/>
                </a:solidFill>
                <a:latin typeface="Microsoft YaHei"/>
                <a:ea typeface="Microsoft YaHei"/>
                <a:cs typeface="Microsoft YaHei"/>
              </a:rPr>
              <a:t>没有 RAM/D · 直接生成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1965960"/>
            <a:ext cx="73152" cy="65836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1947672"/>
            <a:ext cx="4892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口头需求 → 代码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跳过建模，语义漂移一路累积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2697480"/>
            <a:ext cx="73152" cy="65836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679192"/>
            <a:ext cx="4892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接口反向塑造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实现写完才「抽」接口，耦合 + 泄漏抽象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3429000"/>
            <a:ext cx="73152" cy="65836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410712"/>
            <a:ext cx="4892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深继承 + 多层分支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AI 天然爱写 if/else 和 BaseXxx——过测但难扩展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160520"/>
            <a:ext cx="73152" cy="65836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142232"/>
            <a:ext cx="4892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领域层依赖框架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Entity 直接当出入参，Service 塞满转换逻辑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892040"/>
            <a:ext cx="73152" cy="65836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873752"/>
            <a:ext cx="4892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测试跟着实现写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测的是「写了什么」，不是「该做什么」</a:t>
            </a:r>
          </a:p>
        </p:txBody>
      </p:sp>
      <p:sp>
        <p:nvSpPr>
          <p:cNvPr id="27" name="Oval 26"/>
          <p:cNvSpPr/>
          <p:nvPr/>
        </p:nvSpPr>
        <p:spPr>
          <a:xfrm>
            <a:off x="5961888" y="1371600"/>
            <a:ext cx="146304" cy="429768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77840" y="3268980"/>
            <a:ext cx="914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82512" y="137160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82512" y="137160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0F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1968" y="1371600"/>
            <a:ext cx="5029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有 RAM/D · 契约先行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65392" y="1965960"/>
            <a:ext cx="73152" cy="658368"/>
          </a:xfrm>
          <a:prstGeom prst="rect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4" y="1947672"/>
            <a:ext cx="4892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ACL 三层翻译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口头需求 → 抽象 → 契约 → 逻辑，每步有产物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5392" y="2697480"/>
            <a:ext cx="73152" cy="658368"/>
          </a:xfrm>
          <a:prstGeom prst="rect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4" y="2679192"/>
            <a:ext cx="4892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接口先定义再确认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抽象驱动接口，接口驱动实现，方向不反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65392" y="3429000"/>
            <a:ext cx="73152" cy="658368"/>
          </a:xfrm>
          <a:prstGeom prst="rect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4" y="3410712"/>
            <a:ext cx="4892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组合 + 多态优先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继承 ≤ 1 层，分支 ≥ 3 抽 Strategy / Handler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65392" y="4160520"/>
            <a:ext cx="73152" cy="658368"/>
          </a:xfrm>
          <a:prstGeom prst="rect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29984" y="4142232"/>
            <a:ext cx="4892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领域层纯 OO 契约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infrastructure 实现 domain 端口，依赖方向正确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65392" y="4892040"/>
            <a:ext cx="73152" cy="658368"/>
          </a:xfrm>
          <a:prstGeom prst="rect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29984" y="4873752"/>
            <a:ext cx="4892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测试测契约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规格即断言，实现怎么改都不影响验收标准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806440"/>
            <a:ext cx="11210544" cy="731520"/>
          </a:xfrm>
          <a:prstGeom prst="roundRect">
            <a:avLst>
              <a:gd name="adj" fmla="val 12000"/>
            </a:avLst>
          </a:prstGeom>
          <a:solidFill>
            <a:srgbClr val="1B1433"/>
          </a:solidFill>
          <a:ln w="12700">
            <a:solidFill>
              <a:srgbClr val="9B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806440"/>
            <a:ext cx="10698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核心命题：</a:t>
            </a: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AI 生成代码的成本几乎为零，但</a:t>
            </a: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破坏架构边界的成本不会因此降低</a:t>
            </a: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——RAM/D 不是「慢下来」，是不让生成的速度变成技术债的速度。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How · 为什么需要 RAM/D   |   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HOW · LLM 与抽象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大模型天生不会抽象：RAM 让 LLM 设计出符合 OOP 哲学的框架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463040"/>
            <a:ext cx="5577840" cy="3749039"/>
          </a:xfrm>
          <a:prstGeom prst="roundRect">
            <a:avLst>
              <a:gd name="adj" fmla="val 6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1463040"/>
            <a:ext cx="5577840" cy="457200"/>
          </a:xfrm>
          <a:prstGeom prst="roundRect">
            <a:avLst>
              <a:gd name="adj" fmla="val 6000"/>
            </a:avLst>
          </a:prstGeom>
          <a:solidFill>
            <a:srgbClr val="33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463040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FF5A5A"/>
                </a:solidFill>
                <a:latin typeface="Microsoft YaHei"/>
                <a:ea typeface="Microsoft YaHei"/>
                <a:cs typeface="Microsoft YaHei"/>
              </a:rPr>
              <a:t>直接生成：没有抽象的产物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2103120"/>
            <a:ext cx="73152" cy="65836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084832"/>
            <a:ext cx="507492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面向“这次能跑”写代码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接口被实现反向塑造，抽象从实现里事后抽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2907792"/>
            <a:ext cx="73152" cy="65836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889504"/>
            <a:ext cx="507492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上帝对象 / 超长方法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职责全堆进一个类，改一处牵动一片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3712464"/>
            <a:ext cx="73152" cy="65836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694176"/>
            <a:ext cx="507492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复用 = 复制粘贴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相似逻辑散落多处，改漏一处就是 bug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517136"/>
            <a:ext cx="73152" cy="65836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498848"/>
            <a:ext cx="507492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深继承 + 多层 if/else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训练语料里的天然偏好：短期好写、长期难扩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27648" y="1463040"/>
            <a:ext cx="5394960" cy="3749039"/>
          </a:xfrm>
          <a:prstGeom prst="roundRect">
            <a:avLst>
              <a:gd name="adj" fmla="val 60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27648" y="1463040"/>
            <a:ext cx="5394960" cy="457200"/>
          </a:xfrm>
          <a:prstGeom prst="roundRect">
            <a:avLst>
              <a:gd name="adj" fmla="val 6000"/>
            </a:avLst>
          </a:prstGeom>
          <a:solidFill>
            <a:srgbClr val="0F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1463040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RAM 之后：符合 OOP 的设计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10528" y="2103120"/>
            <a:ext cx="73152" cy="658368"/>
          </a:xfrm>
          <a:prstGeom prst="rect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2084832"/>
            <a:ext cx="48920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Read→Analyze→Model 先行抽象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先提炼稳定概念，再定接口/DTO（Contract-first）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10528" y="2907792"/>
            <a:ext cx="73152" cy="658368"/>
          </a:xfrm>
          <a:prstGeom prst="rect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2889504"/>
            <a:ext cx="48920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单一职责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每个类/模块只做一件事，边界写进设计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10528" y="3712464"/>
            <a:ext cx="73152" cy="658368"/>
          </a:xfrm>
          <a:prstGeom prst="rect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3694176"/>
            <a:ext cx="48920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开闭 + 组合多态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扩展新行为不改既有：继承≤1、分支抽 Strategy/Handler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10528" y="4517136"/>
            <a:ext cx="73152" cy="658368"/>
          </a:xfrm>
          <a:prstGeom prst="rect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4498848"/>
            <a:ext cx="48920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复用来自契约而非复制</a:t>
            </a:r>
          </a:p>
          <a:p>
            <a:pPr>
              <a:lnSpc>
                <a:spcPct val="105000"/>
              </a:lnSpc>
              <a:spcBef>
                <a:spcPts val="100"/>
              </a:spcBef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接口被多处实现与消费，改动受边界约束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440680"/>
            <a:ext cx="11155680" cy="868680"/>
          </a:xfrm>
          <a:prstGeom prst="roundRect">
            <a:avLst>
              <a:gd name="adj" fmla="val 10000"/>
            </a:avLst>
          </a:prstGeom>
          <a:solidFill>
            <a:srgbClr val="1B1433"/>
          </a:solidFill>
          <a:ln w="12700">
            <a:solidFill>
              <a:srgbClr val="9B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440680"/>
            <a:ext cx="10698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核心命题： </a:t>
            </a: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LLM 不缺“生成”的能力，缺“抽象”的步骤。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RAM 在实现前逼出结构——复用性与单一职责是 Model 阶段“设计”出来的，不是提示词祈祷出来的。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How · LLM 抽象   |   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HOW · RAM ·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例子：风控策略决策 —— 直接生成 vs RAM 先抽象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371600"/>
            <a:ext cx="11155680" cy="749808"/>
          </a:xfrm>
          <a:prstGeom prst="roundRect">
            <a:avLst>
              <a:gd name="adj" fmla="val 12000"/>
            </a:avLst>
          </a:prstGeom>
          <a:solidFill>
            <a:srgbClr val="172038"/>
          </a:solidFill>
          <a:ln w="12700">
            <a:solidFill>
              <a:srgbClr val="00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371600"/>
            <a:ext cx="106984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需求：</a:t>
            </a:r>
            <a:r>
              <a:rPr sz="10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对一笔贷款申请做「策略决策」——按命中规则返回 拒绝 / 放行 / 人工复核 / 降额；结果要带原因码、可解释、可留痕；规则经常新增、调序，并能灰度/回滚上线。典型规则：黑名单、负债收入比&gt;0.6、新设备首贷、评分&lt;阈值、反欺诈设备聚集…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249424"/>
            <a:ext cx="5486400" cy="3493008"/>
          </a:xfrm>
          <a:prstGeom prst="roundRect">
            <a:avLst>
              <a:gd name="adj" fmla="val 55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249424"/>
            <a:ext cx="5486400" cy="457200"/>
          </a:xfrm>
          <a:prstGeom prst="roundRect">
            <a:avLst>
              <a:gd name="adj" fmla="val 5500"/>
            </a:avLst>
          </a:prstGeom>
          <a:solidFill>
            <a:srgbClr val="33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24942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FF5A5A"/>
                </a:solidFill>
                <a:latin typeface="Microsoft YaHei"/>
                <a:ea typeface="Microsoft YaHei"/>
                <a:cs typeface="Microsoft YaHei"/>
              </a:rPr>
              <a:t>直接生成（没有 RAM）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816352"/>
            <a:ext cx="4937760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def evaluate(app):               # 一个方法全包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 if blacklist(app):       return REJECT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 if debt_ratio(app) &gt; 0.6: return REJECT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 if new_user(app) and new_device(app):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     return REVIEW       # 人工复核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 if score(app) &lt; 600:     return REDUCE_LIMIT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 # …… 十几条策略再叠进这堆 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626864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00" b="1" i="0">
                <a:solidFill>
                  <a:srgbClr val="FF5A5A"/>
                </a:solidFill>
                <a:latin typeface="Microsoft YaHei"/>
                <a:ea typeface="Microsoft YaHei"/>
                <a:cs typeface="Microsoft YaHei"/>
              </a:rPr>
              <a:t>后果：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加一条规则/调命中顺序 = 回来改 evaluate：线上规则=改代码、无灰度无回滚；动作散在 if 里、没有统一原因码——规则互相牵动，越叠越不敢动。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2249424"/>
            <a:ext cx="5440680" cy="3493008"/>
          </a:xfrm>
          <a:prstGeom prst="roundRect">
            <a:avLst>
              <a:gd name="adj" fmla="val 55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6208" y="2249424"/>
            <a:ext cx="5440680" cy="457200"/>
          </a:xfrm>
          <a:prstGeom prst="roundRect">
            <a:avLst>
              <a:gd name="adj" fmla="val 5500"/>
            </a:avLst>
          </a:prstGeom>
          <a:solidFill>
            <a:srgbClr val="0F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55664" y="224942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RAM · 先把“规则/决策”抽成模型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816352"/>
            <a:ext cx="4937760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Analyze：决策 = 按序命中一组规则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     变化轴：规则可新增/可排序/可解释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Model → 契约先行：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 interface RiskRule { Decision decide(Ctx) }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 一个实现 = 一条规则（单一职责）：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 BlacklistRule · DebtRatioRule · DeviceRisk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 ScoreRule · QuotaRule · 反欺诈聚集 …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 RiskEngine 有序注册 · 命中即短路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 Decision{action, reasonCode, hit} → 留痕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4626864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后果：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加一条规则 = 新增一个 RiskRule 实现 + 在策略清单注册；上线=调清单即可灰度/回滚，每条规则可单测、原因码贯穿，可解释、可留痕。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870448"/>
            <a:ext cx="11155680" cy="548640"/>
          </a:xfrm>
          <a:prstGeom prst="roundRect">
            <a:avLst>
              <a:gd name="adj" fmla="val 16000"/>
            </a:avLst>
          </a:prstGeom>
          <a:solidFill>
            <a:srgbClr val="1B1433"/>
          </a:solidFill>
          <a:ln w="12700">
            <a:solidFill>
              <a:srgbClr val="9B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870448"/>
            <a:ext cx="10698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风控的难点不在某条规则“怎么写”，而在“规则多、常变、要可解释、能灰度回滚”——RAM 先把『规则/决策/结果』抽成模型，引擎只做有序编排。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How · RAM 实例   |   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HOW · 后端 Profile · 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Read → Analyze → Model：先产出契约，审批后才放行实现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371600"/>
            <a:ext cx="3566160" cy="2560320"/>
          </a:xfrm>
          <a:prstGeom prst="roundRect">
            <a:avLst>
              <a:gd name="adj" fmla="val 9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5528" y="1554480"/>
            <a:ext cx="640080" cy="640080"/>
          </a:xfrm>
          <a:prstGeom prst="ellipse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1600200"/>
            <a:ext cx="2423160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  <a:p>
            <a:pPr>
              <a:spcBef>
                <a:spcPts val="200"/>
              </a:spcBef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 Explore · 读什么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确定性加载：agent-policy 命令/权限 → 命中路径 AI.md → 相关代码 · 测试 · 契约 · 历史（顺序固定，不是瞎搜）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8" y="2331720"/>
            <a:ext cx="182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7" y="1371600"/>
            <a:ext cx="3566160" cy="2560320"/>
          </a:xfrm>
          <a:prstGeom prst="roundRect">
            <a:avLst>
              <a:gd name="adj" fmla="val 9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44567" y="1554480"/>
            <a:ext cx="640080" cy="640080"/>
          </a:xfrm>
          <a:prstGeom prst="ellipse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1600200"/>
            <a:ext cx="2423160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Analyze</a:t>
            </a:r>
          </a:p>
          <a:p>
            <a:pPr>
              <a:spcBef>
                <a:spcPts val="200"/>
              </a:spcBef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 Explore/Spec · 分析什么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不变量与所有权 · 信任边界与调用方 · 兼容性 · 数据迁移 · 失败模式 · 运维风险 —— 列出会改变设计的事实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2331720"/>
            <a:ext cx="182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6" y="1371600"/>
            <a:ext cx="3566160" cy="2560320"/>
          </a:xfrm>
          <a:prstGeom prst="roundRect">
            <a:avLst>
              <a:gd name="adj" fmla="val 9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93606" y="1554480"/>
            <a:ext cx="640080" cy="640080"/>
          </a:xfrm>
          <a:prstGeom prst="ellipse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6" y="1600200"/>
            <a:ext cx="2423160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Model</a:t>
            </a:r>
          </a:p>
          <a:p>
            <a:pPr>
              <a:spcBef>
                <a:spcPts val="200"/>
              </a:spcBef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 Design · 产出什么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领域边界 · 接口契约 · 持久化 · 幂等/事务/并发 · 可观测 · 实现顺序 —— 三视图写进 design.md，确认后才放行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041648"/>
            <a:ext cx="7132320" cy="2432304"/>
          </a:xfrm>
          <a:prstGeom prst="roundRect">
            <a:avLst>
              <a:gd name="adj" fmla="val 55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114800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RAM 是统一 engineering Skill 的「设计」特化 —— 不是独立命令/生命周期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517136"/>
            <a:ext cx="1975104" cy="420624"/>
          </a:xfrm>
          <a:prstGeom prst="roundRect">
            <a:avLst>
              <a:gd name="adj" fmla="val 28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517136"/>
            <a:ext cx="19751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60A14"/>
                </a:solidFill>
                <a:latin typeface="Consolas"/>
                <a:ea typeface="Consolas"/>
                <a:cs typeface="Consolas"/>
              </a:rPr>
              <a:t>R · Read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010912"/>
            <a:ext cx="179222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agent-policy + AI.md 路径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代码 · 测试 · 契约 · 历史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顺序固定 · 不瞎搜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72384" y="4517136"/>
            <a:ext cx="1975104" cy="420624"/>
          </a:xfrm>
          <a:prstGeom prst="roundRect">
            <a:avLst>
              <a:gd name="adj" fmla="val 28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72384" y="4517136"/>
            <a:ext cx="19751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60A14"/>
                </a:solidFill>
                <a:latin typeface="Consolas"/>
                <a:ea typeface="Consolas"/>
                <a:cs typeface="Consolas"/>
              </a:rPr>
              <a:t>A · Analyze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63824" y="5010912"/>
            <a:ext cx="179222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不变量 · 所有权 · 信任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调用方 · 兼容 · 数据迁移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失败模式 · 运维风险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21808" y="4517136"/>
            <a:ext cx="1975104" cy="420624"/>
          </a:xfrm>
          <a:prstGeom prst="roundRect">
            <a:avLst>
              <a:gd name="adj" fmla="val 28000"/>
            </a:avLst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21808" y="4517136"/>
            <a:ext cx="19751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60A14"/>
                </a:solidFill>
                <a:latin typeface="Consolas"/>
                <a:ea typeface="Consolas"/>
                <a:cs typeface="Consolas"/>
              </a:rPr>
              <a:t>M ·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13248" y="5010912"/>
            <a:ext cx="179222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领域边界 · 接口契约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持久化 · 幂等/事务/并发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三视图 → design.md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384" y="6035040"/>
            <a:ext cx="6675120" cy="402336"/>
          </a:xfrm>
          <a:prstGeom prst="roundRect">
            <a:avLst>
              <a:gd name="adj" fmla="val 160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9264" y="6035040"/>
            <a:ext cx="64008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86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门禁：结构校验 + 开发者确认 C1…Cn → 审批绑定契约摘要</a:t>
            </a:r>
          </a:p>
          <a:p>
            <a:pPr>
              <a:lnSpc>
                <a:spcPct val="105000"/>
              </a:lnSpc>
            </a:pPr>
            <a:r>
              <a:rPr sz="86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放行：Apply 只消费已批模型 · Verify 聚焦验证 + 架构/契约 Fitness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09560" y="4041648"/>
            <a:ext cx="3886200" cy="2432304"/>
          </a:xfrm>
          <a:prstGeom prst="roundRect">
            <a:avLst>
              <a:gd name="adj" fmla="val 8000"/>
            </a:avLst>
          </a:prstGeom>
          <a:solidFill>
            <a:srgbClr val="1B1433"/>
          </a:solidFill>
          <a:ln w="12700">
            <a:solidFill>
              <a:srgbClr val="9B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19872" y="4160520"/>
            <a:ext cx="34747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铁律 · abstraction-first + 架构边界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领域层纯 OO 契约：零框架、依赖被倒置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契约先行：接口/抽象先写，确认后再实现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依赖方向单向：渠道/表现 → 应用 → 领域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继承 ≤ 1 层；分支 ≥ 3 抽 Strategy/Handler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改了契约/职责 → ai.json·AI.md 需在改动集内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Apply 只消费已审批的 design.md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How · Backend RAM   |  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HOW · 前端 Profile · RAD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Read → Analyze → Decompose：先产出类型与结构，再放行实现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371600"/>
            <a:ext cx="3566160" cy="2560320"/>
          </a:xfrm>
          <a:prstGeom prst="roundRect">
            <a:avLst>
              <a:gd name="adj" fmla="val 9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5528" y="1554480"/>
            <a:ext cx="640080" cy="640080"/>
          </a:xfrm>
          <a:prstGeom prst="ellipse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1600200"/>
            <a:ext cx="2423160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  <a:p>
            <a:pPr>
              <a:spcBef>
                <a:spcPts val="200"/>
              </a:spcBef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 Explore · 读什么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产品行为 · 设计系统/组件库 · 路由与现有组件 · API 类型 · 状态归属 · 测试与无障碍约束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8" y="2331720"/>
            <a:ext cx="182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7" y="1371600"/>
            <a:ext cx="3566160" cy="2560320"/>
          </a:xfrm>
          <a:prstGeom prst="roundRect">
            <a:avLst>
              <a:gd name="adj" fmla="val 9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44567" y="1554480"/>
            <a:ext cx="640080" cy="640080"/>
          </a:xfrm>
          <a:prstGeom prst="ellipse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1600200"/>
            <a:ext cx="2423160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Analyze</a:t>
            </a:r>
          </a:p>
          <a:p>
            <a:pPr>
              <a:spcBef>
                <a:spcPts val="200"/>
              </a:spcBef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 Explore/Spec · 分析什么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用户态（loading/empty/error）· 权限边界 · 响应式与兼容 · 交互语义与无障碍 · API 契约风险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2331720"/>
            <a:ext cx="182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6" y="1371600"/>
            <a:ext cx="3566160" cy="2560320"/>
          </a:xfrm>
          <a:prstGeom prst="roundRect">
            <a:avLst>
              <a:gd name="adj" fmla="val 9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93606" y="1554480"/>
            <a:ext cx="640080" cy="640080"/>
          </a:xfrm>
          <a:prstGeom prst="ellipse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6" y="1600200"/>
            <a:ext cx="2423160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Decompose</a:t>
            </a:r>
          </a:p>
          <a:p>
            <a:pPr>
              <a:spcBef>
                <a:spcPts val="200"/>
              </a:spcBef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 Design · 产出什么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组件与容器职责 · 数据/状态流 · 类型化 API 边界 · 校验/交互态/无障碍 · 实现顺序 —— 与后端同入一份 design.md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041648"/>
            <a:ext cx="7132320" cy="2432304"/>
          </a:xfrm>
          <a:prstGeom prst="roundRect">
            <a:avLst>
              <a:gd name="adj" fmla="val 55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114800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RAD 是统一 engineering Skill 的「设计」特化 —— 先产类型/结构，再放行实现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517136"/>
            <a:ext cx="1975104" cy="420624"/>
          </a:xfrm>
          <a:prstGeom prst="roundRect">
            <a:avLst>
              <a:gd name="adj" fmla="val 28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517136"/>
            <a:ext cx="19751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60A14"/>
                </a:solidFill>
                <a:latin typeface="Consolas"/>
                <a:ea typeface="Consolas"/>
                <a:cs typeface="Consolas"/>
              </a:rPr>
              <a:t>R · Read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010912"/>
            <a:ext cx="179222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产品行为 · 设计系统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路由 · 组件 · API 类型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状态归属 · 测试/无障碍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72384" y="4517136"/>
            <a:ext cx="1975104" cy="420624"/>
          </a:xfrm>
          <a:prstGeom prst="roundRect">
            <a:avLst>
              <a:gd name="adj" fmla="val 28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72384" y="4517136"/>
            <a:ext cx="19751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60A14"/>
                </a:solidFill>
                <a:latin typeface="Consolas"/>
                <a:ea typeface="Consolas"/>
                <a:cs typeface="Consolas"/>
              </a:rPr>
              <a:t>A · Analyze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63824" y="5010912"/>
            <a:ext cx="179222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用户态 loading/empty/error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权限边界 · 响应式/兼容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交互语义 · 契约风险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21808" y="4517136"/>
            <a:ext cx="1975104" cy="420624"/>
          </a:xfrm>
          <a:prstGeom prst="roundRect">
            <a:avLst>
              <a:gd name="adj" fmla="val 28000"/>
            </a:avLst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21808" y="4517136"/>
            <a:ext cx="19751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60A14"/>
                </a:solidFill>
                <a:latin typeface="Consolas"/>
                <a:ea typeface="Consolas"/>
                <a:cs typeface="Consolas"/>
              </a:rPr>
              <a:t>D · Decompose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13248" y="5010912"/>
            <a:ext cx="179222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组件/容器职责树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数据/状态流 · typed API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三态/无障碍 → design.md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384" y="6035040"/>
            <a:ext cx="6675120" cy="402336"/>
          </a:xfrm>
          <a:prstGeom prst="roundRect">
            <a:avLst>
              <a:gd name="adj" fmla="val 160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9264" y="6035040"/>
            <a:ext cx="64008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86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门禁：结构校验 + 开发者确认 C1…Cn → 审批绑定契约摘要（与后端同一条链）</a:t>
            </a:r>
          </a:p>
          <a:p>
            <a:pPr>
              <a:lnSpc>
                <a:spcPct val="105000"/>
              </a:lnSpc>
            </a:pPr>
            <a:r>
              <a:rPr sz="86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放行：Apply 按 Decompose 实现 · Verify 类型/行为/无障碍/三态 + 契约对齐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09560" y="4041648"/>
            <a:ext cx="3886200" cy="2432304"/>
          </a:xfrm>
          <a:prstGeom prst="roundRect">
            <a:avLst>
              <a:gd name="adj" fmla="val 8000"/>
            </a:avLst>
          </a:prstGeom>
          <a:solidFill>
            <a:srgbClr val="1B1433"/>
          </a:solidFill>
          <a:ln w="12700">
            <a:solidFill>
              <a:srgbClr val="9B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19872" y="4160520"/>
            <a:ext cx="34747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铁律 · 前端架构边界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类型即契约：types/DTO/状态 schema 先产出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UI 不直连 fetch / localStorage：数据经 props/接口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视图 · 状态 · 数据流三层不混、职责单向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先 hooks/controller 编排，再生成 UI 组件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loading/empty/error 三态与无障碍必须显式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How · Frontend RAD   |   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HOW · RAD ·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例子：订单管理页 —— 直接生成 vs RAD 先分解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371600"/>
            <a:ext cx="11155680" cy="749808"/>
          </a:xfrm>
          <a:prstGeom prst="roundRect">
            <a:avLst>
              <a:gd name="adj" fmla="val 12000"/>
            </a:avLst>
          </a:prstGeom>
          <a:solidFill>
            <a:srgbClr val="172038"/>
          </a:solidFill>
          <a:ln w="12700">
            <a:solidFill>
              <a:srgbClr val="00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371600"/>
            <a:ext cx="106984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需求：</a:t>
            </a:r>
            <a:r>
              <a:rPr sz="10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做一个“订单管理页”——列表 + 关键词搜索/状态筛选 + 分页 + 批量操作（批量关闭/导出）+ 行内改状态；仅本部门可见（权限）；接口与字段来自后端契约。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249424"/>
            <a:ext cx="5486400" cy="3493008"/>
          </a:xfrm>
          <a:prstGeom prst="roundRect">
            <a:avLst>
              <a:gd name="adj" fmla="val 55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249424"/>
            <a:ext cx="5486400" cy="457200"/>
          </a:xfrm>
          <a:prstGeom prst="roundRect">
            <a:avLst>
              <a:gd name="adj" fmla="val 5500"/>
            </a:avLst>
          </a:prstGeom>
          <a:solidFill>
            <a:srgbClr val="33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24942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FF5A5A"/>
                </a:solidFill>
                <a:latin typeface="Microsoft YaHei"/>
                <a:ea typeface="Microsoft YaHei"/>
                <a:cs typeface="Microsoft YaHei"/>
              </a:rPr>
              <a:t>直接生成（没有 RAD）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816352"/>
            <a:ext cx="4937760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function OrderPage() {          // 巨型组件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const [list] = useState([])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useEffect(()=&gt;fetch('/api/orders'))  // 组件直连接口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// 筛选/分页/批量/行内更新全堆进组件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// loading/empty/error 散在每处 if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// 权限：if(!canSee) return null 也在这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return &lt;Page&gt;… 上百行 JSX …&lt;/Page&gt;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626864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00" b="1" i="0">
                <a:solidFill>
                  <a:srgbClr val="FF5A5A"/>
                </a:solidFill>
                <a:latin typeface="Microsoft YaHei"/>
                <a:ea typeface="Microsoft YaHei"/>
                <a:cs typeface="Microsoft YaHei"/>
              </a:rPr>
              <a:t>后果：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页面越写越长：接口与 UI 耦合、筛选加一列动整个组件；同样的列表/批量到别的页面只能复制一份——状态无归位、三态/权限无归位、几乎没法单测。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2249424"/>
            <a:ext cx="5440680" cy="3493008"/>
          </a:xfrm>
          <a:prstGeom prst="roundRect">
            <a:avLst>
              <a:gd name="adj" fmla="val 55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6208" y="2249424"/>
            <a:ext cx="5440680" cy="457200"/>
          </a:xfrm>
          <a:prstGeom prst="roundRect">
            <a:avLst>
              <a:gd name="adj" fmla="val 5500"/>
            </a:avLst>
          </a:prstGeom>
          <a:solidFill>
            <a:srgbClr val="0F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55664" y="224942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RAD · 先把“视图/状态/数据流”分好层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816352"/>
            <a:ext cx="4937760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Read/Analyze → 先分工三层，找变化轴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Decompose（结构先于 UI，契约先行）：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types.ts：订单 DTO/枚举 = 类型即契约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useOrderList(搜索·筛选·分页·批量) 状态归位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api client 只发请求，返回类型化数据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UI 纯展示：&lt;Filter/&gt; &lt;OrderRow/&gt; &lt;Batch/&gt;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loading/empty/error → hook 统一提供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819" b="0" i="0">
                <a:solidFill>
                  <a:srgbClr val="E8EEF8"/>
                </a:solidFill>
                <a:latin typeface="Consolas"/>
                <a:ea typeface="Consolas"/>
                <a:cs typeface="Consolas"/>
              </a:rPr>
              <a:t>   &lt;OrderPage&gt; 只组装，不写业务判断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4626864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后果：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加一种筛选/批量动作 = 加 hook 状态分支或一个纯展示组件；三态与权限各归其位、可单独单测，别的页面直接复用这些层。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870448"/>
            <a:ext cx="11155680" cy="548640"/>
          </a:xfrm>
          <a:prstGeom prst="roundRect">
            <a:avLst>
              <a:gd name="adj" fmla="val 16000"/>
            </a:avLst>
          </a:prstGeom>
          <a:solidFill>
            <a:srgbClr val="1B1433"/>
          </a:solidFill>
          <a:ln w="12700">
            <a:solidFill>
              <a:srgbClr val="9B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870448"/>
            <a:ext cx="10698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RAD 不是“少写页面”，而是先把『类型/状态/数据流/展示』拆开——前端的难点同样是“层不跨越 + 可复用”，而不是写满一屏 JSX。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How · RAD 实例   |   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HOW · 跨模块协作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多模块共用一条生命周期：契约先行 · 就绪波次 · 逐模块证据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371600"/>
            <a:ext cx="5943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不是多模块各开各的 change：仍是 Explore → Propose → Apply → Verify → Sync → Archive 一条主链。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跨模块先定义契约边界：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端口/数据结构 · 错误码 · 幂等键 · 权限 · 可观测字段 · 归属模块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多模块共享同一份 design.md；契约定稿后，各模块按归属推进自己的部分。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任务执行即出证据：并行须声明隔离与不重叠写范围；串行记 fallback 原因。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唯一协调者收证据，集成与最终验证只在协调者统一跑。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Review 逐模块对齐：字段/枚举/错误/权限/路由 + 文件摘要 = 执行记录精确一致。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1371600"/>
            <a:ext cx="5074920" cy="4160520"/>
          </a:xfrm>
          <a:prstGeom prst="roundRect">
            <a:avLst>
              <a:gd name="adj" fmla="val 6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1481328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一个 change 的跨模块编排</a:t>
            </a:r>
          </a:p>
        </p:txBody>
      </p:sp>
      <p:sp>
        <p:nvSpPr>
          <p:cNvPr id="17" name="Oval 16"/>
          <p:cNvSpPr/>
          <p:nvPr/>
        </p:nvSpPr>
        <p:spPr>
          <a:xfrm>
            <a:off x="6903720" y="2203704"/>
            <a:ext cx="365760" cy="36576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20370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9208" y="2103120"/>
            <a:ext cx="42336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契约与依赖先行</a:t>
            </a: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契约边界/波次依赖写进 design.md</a:t>
            </a:r>
          </a:p>
        </p:txBody>
      </p:sp>
      <p:sp>
        <p:nvSpPr>
          <p:cNvPr id="20" name="Oval 19"/>
          <p:cNvSpPr/>
          <p:nvPr/>
        </p:nvSpPr>
        <p:spPr>
          <a:xfrm>
            <a:off x="6903720" y="2862072"/>
            <a:ext cx="365760" cy="36576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862072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8" y="2761488"/>
            <a:ext cx="42336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就绪波次调度</a:t>
            </a: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契约层先合入 → 依赖模块再实现</a:t>
            </a:r>
          </a:p>
        </p:txBody>
      </p:sp>
      <p:sp>
        <p:nvSpPr>
          <p:cNvPr id="23" name="Oval 22"/>
          <p:cNvSpPr/>
          <p:nvPr/>
        </p:nvSpPr>
        <p:spPr>
          <a:xfrm>
            <a:off x="6903720" y="3520440"/>
            <a:ext cx="365760" cy="36576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352044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9208" y="3419856"/>
            <a:ext cx="42336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执行即出证据</a:t>
            </a: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并行=隔离声明；串行记 fallback</a:t>
            </a:r>
          </a:p>
        </p:txBody>
      </p:sp>
      <p:sp>
        <p:nvSpPr>
          <p:cNvPr id="26" name="Oval 25"/>
          <p:cNvSpPr/>
          <p:nvPr/>
        </p:nvSpPr>
        <p:spPr>
          <a:xfrm>
            <a:off x="6903720" y="4178808"/>
            <a:ext cx="365760" cy="36576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417880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9208" y="4078224"/>
            <a:ext cx="42336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协调者收证据</a:t>
            </a: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集成与终验只在协调者跑一次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6903720" y="4837176"/>
            <a:ext cx="365760" cy="365760"/>
          </a:xfrm>
          <a:prstGeom prst="ellipse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483717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4736592"/>
            <a:ext cx="42336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逐模块对齐</a:t>
            </a: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Review 摘要一致 → Sync → Archive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669280"/>
            <a:ext cx="11210544" cy="868680"/>
          </a:xfrm>
          <a:prstGeom prst="roundRect">
            <a:avLst>
              <a:gd name="adj" fmla="val 10000"/>
            </a:avLst>
          </a:prstGeom>
          <a:solidFill>
            <a:srgbClr val="1B1433"/>
          </a:solidFill>
          <a:ln w="12700">
            <a:solidFill>
              <a:srgbClr val="9B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5669280"/>
            <a:ext cx="10789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示例：一次「跨模块」变更 </a:t>
            </a: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＝ 契约边界先行 → 后端 Model 与前端 Decompose 同入 design.md → 就绪波次逐模块执行 → 集成验证统一跑。</a:t>
            </a:r>
          </a:p>
          <a:p>
            <a:pPr>
              <a:lnSpc>
                <a:spcPct val="114000"/>
              </a:lnSpc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一个 OpenSpec change · 一份 design.md · 一次审批 · 一张任务图。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How · Cross-Module   |   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HOW · 全栈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前后端一个 change：跨 API 契约先行 · 就绪波次落地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17320"/>
            <a:ext cx="53035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700"/>
              </a:spcAft>
            </a:pPr>
            <a:r>
              <a:rPr sz="10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不是前后端两条独立工作流；没有第二套 lifecycle。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700"/>
              </a:spcAft>
            </a:pPr>
            <a:r>
              <a:rPr sz="10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Design 先定义跨 API 的共享契约：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版本/兼容 · 可空/默认 · 校验 · 错误结构 · 权限 · 幂等 · 重试/超时 · 时区/精度 · 可观测字段 · 生成类型归属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700"/>
              </a:spcAft>
            </a:pPr>
            <a:r>
              <a:rPr sz="10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后端 Model 与前端 Decompose 写进同一份 design.md。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700"/>
              </a:spcAft>
            </a:pPr>
            <a:r>
              <a:rPr sz="10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就绪波次调度：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隔离工作区 → 集成任务合并两侧 → 协调者统一跑最终验证。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700"/>
              </a:spcAft>
            </a:pPr>
            <a:r>
              <a:rPr sz="10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串行不是降级：同一张图、同一契约、同一门禁，只是不并行。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371600"/>
            <a:ext cx="5394960" cy="4800600"/>
          </a:xfrm>
          <a:prstGeom prst="roundRect">
            <a:avLst>
              <a:gd name="adj" fmla="val 5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1481328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一个契约，后端 Model + 前端 Decompose，按就绪波次落地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1865376"/>
            <a:ext cx="4882896" cy="475488"/>
          </a:xfrm>
          <a:prstGeom prst="roundRect">
            <a:avLst>
              <a:gd name="adj" fmla="val 20000"/>
            </a:avLst>
          </a:prstGeom>
          <a:solidFill>
            <a:srgbClr val="172038"/>
          </a:solidFill>
          <a:ln w="12700">
            <a:solidFill>
              <a:srgbClr val="9B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5392" y="1865376"/>
            <a:ext cx="488289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 OpenSpec change · design.md 已审批 · tasks.md 唯一任务源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8887968" y="2414016"/>
            <a:ext cx="237744" cy="292608"/>
          </a:xfrm>
          <a:prstGeom prst="downArrow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65392" y="2816352"/>
            <a:ext cx="2212848" cy="1554480"/>
          </a:xfrm>
          <a:prstGeom prst="roundRect">
            <a:avLst>
              <a:gd name="adj" fmla="val 9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65392" y="2816352"/>
            <a:ext cx="2212848" cy="365760"/>
          </a:xfrm>
          <a:prstGeom prst="roundRect">
            <a:avLst>
              <a:gd name="adj" fmla="val 5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2816352"/>
            <a:ext cx="22128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① 后端 Worker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8" y="3273552"/>
            <a:ext cx="19568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200"/>
              </a:spcAft>
            </a:pPr>
            <a:r>
              <a:rPr sz="83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隔离工作区 · 不重叠写范围</a:t>
            </a:r>
          </a:p>
          <a:p>
            <a:pPr>
              <a:lnSpc>
                <a:spcPct val="102000"/>
              </a:lnSpc>
              <a:spcAft>
                <a:spcPts val="200"/>
              </a:spcAft>
            </a:pPr>
            <a:r>
              <a:rPr sz="83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RAM Model 已批 → 实现 tasks</a:t>
            </a:r>
          </a:p>
          <a:p>
            <a:pPr>
              <a:lnSpc>
                <a:spcPct val="102000"/>
              </a:lnSpc>
              <a:spcAft>
                <a:spcPts val="200"/>
              </a:spcAft>
            </a:pPr>
            <a:r>
              <a:rPr sz="83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完成即回交 execution-evidence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2816352"/>
            <a:ext cx="2212848" cy="1554480"/>
          </a:xfrm>
          <a:prstGeom prst="roundRect">
            <a:avLst>
              <a:gd name="adj" fmla="val 9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35440" y="2816352"/>
            <a:ext cx="2212848" cy="365760"/>
          </a:xfrm>
          <a:prstGeom prst="roundRect">
            <a:avLst>
              <a:gd name="adj" fmla="val 50000"/>
            </a:avLst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2816352"/>
            <a:ext cx="22128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② 前端 Worker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63456" y="3273552"/>
            <a:ext cx="19568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200"/>
              </a:spcAft>
            </a:pPr>
            <a:r>
              <a:rPr sz="83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隔离工作区 · 不重叠写范围</a:t>
            </a:r>
          </a:p>
          <a:p>
            <a:pPr>
              <a:lnSpc>
                <a:spcPct val="102000"/>
              </a:lnSpc>
              <a:spcAft>
                <a:spcPts val="200"/>
              </a:spcAft>
            </a:pPr>
            <a:r>
              <a:rPr sz="83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RAD Decompose 已批 → 实现 tasks</a:t>
            </a:r>
          </a:p>
          <a:p>
            <a:pPr>
              <a:lnSpc>
                <a:spcPct val="102000"/>
              </a:lnSpc>
              <a:spcAft>
                <a:spcPts val="200"/>
              </a:spcAft>
            </a:pPr>
            <a:r>
              <a:rPr sz="83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完成即回交 execution-evidence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4498848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就绪波次：都只消费已批契约；并行需隔离/不重叠，证据统一交回协调者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8887968" y="4846320"/>
            <a:ext cx="237744" cy="274320"/>
          </a:xfrm>
          <a:prstGeom prst="downArrow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65392" y="5175504"/>
            <a:ext cx="4882896" cy="548640"/>
          </a:xfrm>
          <a:prstGeom prst="roundRect">
            <a:avLst>
              <a:gd name="adj" fmla="val 160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65392" y="5175504"/>
            <a:ext cx="488289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协调者：集成任务合并两侧 → 最终验证 / 门禁 只此一处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65392" y="5797296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1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串行不是降级：同契约同门禁，只是不并行 —— 并行是契约清晰时的加速器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How · Fullstack   |   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GROW · 反哺①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需求反思：发送回答 / 动手之前，先归类任务理解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1732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1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回答级质量门：不是暴露思维链，而是检查“我是否理解得足够到能行动”。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822960" y="2148840"/>
          <a:ext cx="10561319" cy="2157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054"/>
                <a:gridCol w="4654141"/>
                <a:gridCol w="4117124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 marL="73152" marR="54864" marT="18288" marB="18288" anchor="ctr">
                    <a:solidFill>
                      <a:srgbClr val="FF3D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判断条件</a:t>
                      </a:r>
                    </a:p>
                  </a:txBody>
                  <a:tcPr marL="73152" marR="54864" marT="18288" marB="18288" anchor="ctr">
                    <a:solidFill>
                      <a:srgbClr val="FF3D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Agent 行动</a:t>
                      </a:r>
                    </a:p>
                  </a:txBody>
                  <a:tcPr marL="73152" marR="54864" marT="18288" marB="18288" anchor="ctr">
                    <a:solidFill>
                      <a:srgbClr val="FF3D8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ready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目标/范围/完成标准/约束/授权足够明确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说明重要假设，在授权范围内行动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clarify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歧义可能改变实现/结果/成本/安全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停止写入与副作用，聚焦提问 + 推荐方案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correct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需求与仓库事实/约束/不变量冲突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展示证据与最小可行修正，等确认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blocked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缺授权或证据、无法继续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说明阻塞点与最安全下一步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822960" y="4709160"/>
            <a:ext cx="10561320" cy="1234440"/>
          </a:xfrm>
          <a:prstGeom prst="roundRect">
            <a:avLst>
              <a:gd name="adj" fmla="val 100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846320"/>
            <a:ext cx="10149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铁律一条：不要在多个实质不同的解释间静默选择。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澄清响应顺序：当前理解 → 找到问题 → 仓库证据 → 推荐方案与取舍 → 最小确认问题。</a:t>
            </a:r>
          </a:p>
          <a:p>
            <a:pPr>
              <a:spcBef>
                <a:spcPts val="400"/>
              </a:spcBef>
            </a:pPr>
            <a:r>
              <a:rPr sz="11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它检查 Agent 该不该行动；Self-Refine 检查草稿质量好不好——两者互补，都不替代审批与门禁。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Grow · 需求反思   |  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GROW · 反哺②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Self-Refine：有界的内层自检循环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33502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概念 · Self-Refine（Madaan et al., NeurIPS 2023）：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同一模型对自身草稿做有界的自反馈迭代——不引入外部工具、不需再训练；它是内层质量循环，在阶段门禁前收敛质量，不创建第二套生命周期。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1965960"/>
            <a:ext cx="2103120" cy="548640"/>
          </a:xfrm>
          <a:prstGeom prst="roundRect">
            <a:avLst>
              <a:gd name="adj" fmla="val 3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65960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生成 Generate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1965960"/>
            <a:ext cx="2103120" cy="548640"/>
          </a:xfrm>
          <a:prstGeom prst="roundRect">
            <a:avLst>
              <a:gd name="adj" fmla="val 3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1965960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自我批判 Self-Critique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611880"/>
            <a:ext cx="2103120" cy="548640"/>
          </a:xfrm>
          <a:prstGeom prst="roundRect">
            <a:avLst>
              <a:gd name="adj" fmla="val 3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3611880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优化 Refine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611880"/>
            <a:ext cx="2103120" cy="548640"/>
          </a:xfrm>
          <a:prstGeom prst="roundRect">
            <a:avLst>
              <a:gd name="adj" fmla="val 30000"/>
            </a:avLst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611880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060A14"/>
                </a:solidFill>
                <a:latin typeface="Microsoft YaHei"/>
                <a:ea typeface="Microsoft YaHei"/>
                <a:cs typeface="Microsoft YaHei"/>
              </a:rPr>
              <a:t>再检查 Re-check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035808" y="2039112"/>
            <a:ext cx="786384" cy="402336"/>
          </a:xfrm>
          <a:prstGeom prst="rightArrow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4809744" y="2560320"/>
            <a:ext cx="347472" cy="1005840"/>
          </a:xfrm>
          <a:prstGeom prst="downArrow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Left Arrow 24"/>
          <p:cNvSpPr/>
          <p:nvPr/>
        </p:nvSpPr>
        <p:spPr>
          <a:xfrm>
            <a:off x="3035808" y="3685032"/>
            <a:ext cx="786384" cy="402336"/>
          </a:xfrm>
          <a:prstGeom prst="leftArrow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p Arrow 25"/>
          <p:cNvSpPr/>
          <p:nvPr/>
        </p:nvSpPr>
        <p:spPr>
          <a:xfrm>
            <a:off x="1700784" y="2560320"/>
            <a:ext cx="347472" cy="1005840"/>
          </a:xfrm>
          <a:prstGeom prst="upArrow">
            <a:avLst/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761488" y="2724912"/>
            <a:ext cx="1335024" cy="713232"/>
          </a:xfrm>
          <a:prstGeom prst="roundRect">
            <a:avLst>
              <a:gd name="adj" fmla="val 12000"/>
            </a:avLst>
          </a:prstGeom>
          <a:solidFill>
            <a:srgbClr val="172038"/>
          </a:solidFill>
          <a:ln w="12700">
            <a:solidFill>
              <a:srgbClr val="00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61488" y="2724912"/>
            <a:ext cx="133502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有界闭环</a:t>
            </a:r>
          </a:p>
          <a:p>
            <a:pPr algn="ctr">
              <a:spcBef>
                <a:spcPts val="200"/>
              </a:spcBef>
            </a:pPr>
            <a:r>
              <a:rPr sz="900" b="0" i="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≤ max_iterations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224528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完成定义：</a:t>
            </a:r>
            <a:r>
              <a:rPr sz="10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未超上限 · 每个选定问题有解决结果或明确未覆盖风险 · 门禁通过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1965960"/>
            <a:ext cx="5029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位置：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Explore / Spec / Design / Apply / Verify 内的内层循环，对应阶段门禁前收敛质量。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profile.yaml 控制策略与迭代上限：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disabled / recommended / required / required-independent（独立复核）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max_iterations 1–10；循环内解决不了 → 如实记录未覆盖风险，不得伪装成功。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批判契约：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每轮对照已批准需求与风险标准，记录具体发现与修改结果，而非笼统结论。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590288"/>
            <a:ext cx="10561320" cy="1225296"/>
          </a:xfrm>
          <a:prstGeom prst="roundRect">
            <a:avLst>
              <a:gd name="adj" fmla="val 10000"/>
            </a:avLst>
          </a:prstGeom>
          <a:solidFill>
            <a:srgbClr val="2A1D08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90872"/>
            <a:ext cx="10149840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信任边界：Self-Refine 是有界辅助，不是独立证明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8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✕ 同一模型可能重复同一错误 → 高风险声明仍需测试 / 确定性门禁 / 外部审查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8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✕ 不能批准契约 · 不能让失败的门禁通过 · 不能直接写入策略 / Fitness 控制面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8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✕ 产出 self-refine-evidence.json（过程证据，不是审批契约的一部分）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5907024"/>
            <a:ext cx="10561320" cy="420624"/>
          </a:xfrm>
          <a:prstGeom prst="roundRect">
            <a:avLst>
              <a:gd name="adj" fmla="val 300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5907024"/>
            <a:ext cx="101498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闭环之外还有闭环：</a:t>
            </a: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内环 Self-Refine（单次变更内收敛）→ 外环 经验记忆（跨变更沉淀，见下页）→ 制度化 Fitness（硬门禁）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Grow · Self-Refine   |   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GROW · 反哺③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经验记忆：把跨变更反复失败，沉淀为可检索的预防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17320"/>
            <a:ext cx="5120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700"/>
              </a:spcAft>
            </a:pPr>
            <a:r>
              <a:rPr sz="10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闭环：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失败 → 采集 → 提炼 →（外部）审批 → 激活 → 检索 → Explore 前预检 → 验证。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700"/>
              </a:spcAft>
            </a:pPr>
            <a:r>
              <a:rPr sz="10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核心纪律：一次观察通常只生成“候选”，不直接生成“规则”。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700"/>
              </a:spcAft>
            </a:pPr>
            <a:r>
              <a:rPr sz="10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相同签名反复出现 → 经外部审核才可升级为强制预检 / 确定性 Fitness 规则。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700"/>
              </a:spcAft>
            </a:pPr>
            <a:r>
              <a:rPr sz="10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0" i="1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Archive 有失败事件却无结论 → 必须给 lesson-decision，写明原因，不能凭空消失。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5303520" cy="4114800"/>
          </a:xfrm>
          <a:prstGeom prst="roundRect">
            <a:avLst>
              <a:gd name="adj" fmla="val 5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481328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失败 → 候选 → 经验 → 预防：跨变更沉淀闭环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883664"/>
            <a:ext cx="2048256" cy="731520"/>
          </a:xfrm>
          <a:prstGeom prst="roundRect">
            <a:avLst>
              <a:gd name="adj" fmla="val 12000"/>
            </a:avLst>
          </a:prstGeom>
          <a:solidFill>
            <a:srgbClr val="172038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1883664"/>
            <a:ext cx="54864" cy="731520"/>
          </a:xfrm>
          <a:prstGeom prst="roundRect">
            <a:avLst>
              <a:gd name="adj" fmla="val 50000"/>
            </a:avLst>
          </a:prstGeom>
          <a:solidFill>
            <a:srgbClr val="5A6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1929384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失败事件</a:t>
            </a:r>
          </a:p>
          <a:p>
            <a:pPr>
              <a:spcBef>
                <a:spcPts val="100"/>
              </a:spcBef>
            </a:pPr>
            <a:r>
              <a:rPr sz="760" b="0" i="0">
                <a:solidFill>
                  <a:srgbClr val="8A97AD"/>
                </a:solidFill>
                <a:latin typeface="Consolas"/>
                <a:ea typeface="Consolas"/>
                <a:cs typeface="Consolas"/>
              </a:rPr>
              <a:t>failure-events.jsonl</a:t>
            </a:r>
            <a:r>
              <a:rPr sz="76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sz="760" b="1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仅证据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883664"/>
            <a:ext cx="2048256" cy="731520"/>
          </a:xfrm>
          <a:prstGeom prst="roundRect">
            <a:avLst>
              <a:gd name="adj" fmla="val 12000"/>
            </a:avLst>
          </a:prstGeom>
          <a:solidFill>
            <a:srgbClr val="172038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89720" y="1883664"/>
            <a:ext cx="54864" cy="731520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36024" y="1929384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提炼候选</a:t>
            </a:r>
          </a:p>
          <a:p>
            <a:pPr>
              <a:spcBef>
                <a:spcPts val="100"/>
              </a:spcBef>
            </a:pPr>
            <a:r>
              <a:rPr sz="760" b="0" i="0">
                <a:solidFill>
                  <a:srgbClr val="8A97AD"/>
                </a:solidFill>
                <a:latin typeface="Consolas"/>
                <a:ea typeface="Consolas"/>
                <a:cs typeface="Consolas"/>
              </a:rPr>
              <a:t>lesson-candidate.json</a:t>
            </a:r>
            <a:r>
              <a:rPr sz="76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sz="76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待外部审批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3328416"/>
            <a:ext cx="2048256" cy="731520"/>
          </a:xfrm>
          <a:prstGeom prst="roundRect">
            <a:avLst>
              <a:gd name="adj" fmla="val 12000"/>
            </a:avLst>
          </a:prstGeom>
          <a:solidFill>
            <a:srgbClr val="172038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89720" y="3328416"/>
            <a:ext cx="54864" cy="731520"/>
          </a:xfrm>
          <a:prstGeom prst="roundRect">
            <a:avLst>
              <a:gd name="adj" fmla="val 50000"/>
            </a:avLst>
          </a:prstGeom>
          <a:solidFill>
            <a:srgbClr val="00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36024" y="3374136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激活经验</a:t>
            </a:r>
          </a:p>
          <a:p>
            <a:pPr>
              <a:spcBef>
                <a:spcPts val="100"/>
              </a:spcBef>
            </a:pPr>
            <a:r>
              <a:rPr sz="760" b="0" i="0">
                <a:solidFill>
                  <a:srgbClr val="8A97AD"/>
                </a:solidFill>
                <a:latin typeface="Consolas"/>
                <a:ea typeface="Consolas"/>
                <a:cs typeface="Consolas"/>
              </a:rPr>
              <a:t>lessons/*.json</a:t>
            </a:r>
            <a:r>
              <a:rPr sz="76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sz="76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咨询性·可检索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328416"/>
            <a:ext cx="2048256" cy="731520"/>
          </a:xfrm>
          <a:prstGeom prst="roundRect">
            <a:avLst>
              <a:gd name="adj" fmla="val 12000"/>
            </a:avLst>
          </a:prstGeom>
          <a:solidFill>
            <a:srgbClr val="172038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0" y="3328416"/>
            <a:ext cx="54864" cy="731520"/>
          </a:xfrm>
          <a:prstGeom prst="roundRect">
            <a:avLst>
              <a:gd name="adj" fmla="val 50000"/>
            </a:avLst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3374136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预检防复发</a:t>
            </a:r>
          </a:p>
          <a:p>
            <a:pPr>
              <a:spcBef>
                <a:spcPts val="100"/>
              </a:spcBef>
            </a:pPr>
            <a:r>
              <a:rPr sz="760" b="0" i="0">
                <a:solidFill>
                  <a:srgbClr val="8A97AD"/>
                </a:solidFill>
                <a:latin typeface="Consolas"/>
                <a:ea typeface="Consolas"/>
                <a:cs typeface="Consolas"/>
              </a:rPr>
              <a:t>preflight_lessons.py</a:t>
            </a:r>
            <a:r>
              <a:rPr sz="76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sz="76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Explore 前命中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522208" y="2148840"/>
            <a:ext cx="621792" cy="201168"/>
          </a:xfrm>
          <a:prstGeom prst="rightArrow">
            <a:avLst/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wn Arrow 29"/>
          <p:cNvSpPr/>
          <p:nvPr/>
        </p:nvSpPr>
        <p:spPr>
          <a:xfrm>
            <a:off x="10076688" y="2651760"/>
            <a:ext cx="274320" cy="566928"/>
          </a:xfrm>
          <a:prstGeom prst="downArrow">
            <a:avLst/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ft Arrow 30"/>
          <p:cNvSpPr/>
          <p:nvPr/>
        </p:nvSpPr>
        <p:spPr>
          <a:xfrm>
            <a:off x="8522208" y="3593592"/>
            <a:ext cx="621792" cy="201168"/>
          </a:xfrm>
          <a:prstGeom prst="leftArrow">
            <a:avLst/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Up Arrow 31"/>
          <p:cNvSpPr/>
          <p:nvPr/>
        </p:nvSpPr>
        <p:spPr>
          <a:xfrm>
            <a:off x="7287768" y="2651760"/>
            <a:ext cx="274320" cy="566928"/>
          </a:xfrm>
          <a:prstGeom prst="upArrow">
            <a:avLst/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0" y="4315968"/>
            <a:ext cx="4937760" cy="1024128"/>
          </a:xfrm>
          <a:prstGeom prst="roundRect">
            <a:avLst>
              <a:gd name="adj" fmla="val 10000"/>
            </a:avLst>
          </a:prstGeom>
          <a:solidFill>
            <a:srgbClr val="172038"/>
          </a:solidFill>
          <a:ln w="12700">
            <a:solidFill>
              <a:srgbClr val="FF3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1968" y="4370832"/>
            <a:ext cx="45537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0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命中即预防：</a:t>
            </a: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经验在下次变更 Explore 前的预检中被检索，失败不再重复发生。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90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升级是克制的：</a:t>
            </a:r>
            <a:r>
              <a:rPr sz="9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签名反复 → 经外部审批才升为强制预检 / Fitness 规则。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3977639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400"/>
              </a:spcAft>
            </a:pPr>
            <a:r>
              <a:rPr sz="100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权威分级（按信任分层）：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failure-events.jsonl → 仅证据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lesson-candidate.json → 待审核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lessons/*.json（外部审批激活）→ 辅助预防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Fitness / 策略规则 → 规范控制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400"/>
              </a:spcAft>
            </a:pPr>
            <a:r>
              <a:rPr sz="100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全链脚本化：记录失败 → 生成候选 → 审批激活 → 预检检索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Grow · 经验记忆   |   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GROW · 质量门禁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Fitness：把“Agent 不知道什么时候算做完”编码成可执行规则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1732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500"/>
              </a:spcAft>
            </a:pPr>
            <a:r>
              <a:rPr sz="110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200" b="1" i="0">
                <a:solidFill>
                  <a:srgbClr val="FF5A5A"/>
                </a:solidFill>
                <a:latin typeface="Microsoft YaHei"/>
                <a:ea typeface="Microsoft YaHei"/>
                <a:cs typeface="Microsoft YaHei"/>
              </a:rPr>
              <a:t>受保护控制面：</a:t>
            </a:r>
            <a:r>
              <a:rPr sz="12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Agent 只能读与执行 docs/fitness/**，不能修改；任何改动（无论大小）需绑定变更摘要的外部人工审批，例外仅首次安装与可证明的既有语法修复。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822960" y="2606040"/>
          <a:ext cx="10561318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1363"/>
                <a:gridCol w="2250773"/>
                <a:gridCol w="3809000"/>
                <a:gridCol w="277018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Tier</a:t>
                      </a:r>
                    </a:p>
                  </a:txBody>
                  <a:tcPr marL="73152" marR="54864" marT="18288" marB="18288" anchor="ctr">
                    <a:solidFill>
                      <a:srgbClr val="00FF9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耗时</a:t>
                      </a:r>
                    </a:p>
                  </a:txBody>
                  <a:tcPr marL="73152" marR="54864" marT="18288" marB="18288" anchor="ctr">
                    <a:solidFill>
                      <a:srgbClr val="00FF9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典型检查</a:t>
                      </a:r>
                    </a:p>
                  </a:txBody>
                  <a:tcPr marL="73152" marR="54864" marT="18288" marB="18288" anchor="ctr">
                    <a:solidFill>
                      <a:srgbClr val="00FF9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触发</a:t>
                      </a:r>
                    </a:p>
                  </a:txBody>
                  <a:tcPr marL="73152" marR="54864" marT="18288" marB="18288" anchor="ctr">
                    <a:solidFill>
                      <a:srgbClr val="00FF9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fast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&lt;30s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编译 · lint · 入口完整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每次保存 / 每个 Agent 循环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normal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&lt;5min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单元测试 · 架构边界 · 安全扫描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pre-commit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不限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集成测试 · 契约验证 · 性能基准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CI / pre-push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822960" y="4590288"/>
            <a:ext cx="10561320" cy="1572768"/>
          </a:xfrm>
          <a:prstGeom prst="roundRect">
            <a:avLst>
              <a:gd name="adj" fmla="val 8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700016"/>
            <a:ext cx="10104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每条规则 = 一个 Markdown 文件，四个字段，人可读、机器可执行：</a:t>
            </a:r>
            <a:r>
              <a:rPr sz="110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Hard Gate 失败即阻断并列出失败项；普通 metric 失败只降分不阻断。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5074920"/>
            <a:ext cx="2395728" cy="896112"/>
          </a:xfrm>
          <a:prstGeom prst="roundRect">
            <a:avLst>
              <a:gd name="adj" fmla="val 10000"/>
            </a:avLst>
          </a:prstGeom>
          <a:solidFill>
            <a:srgbClr val="172038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184648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dimension</a:t>
            </a: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 维度</a:t>
            </a:r>
          </a:p>
          <a:p>
            <a:pPr>
              <a:spcBef>
                <a:spcPts val="300"/>
              </a:spcBef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如 architecture-boundary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57016" y="5074920"/>
            <a:ext cx="2395728" cy="896112"/>
          </a:xfrm>
          <a:prstGeom prst="roundRect">
            <a:avLst>
              <a:gd name="adj" fmla="val 10000"/>
            </a:avLst>
          </a:prstGeom>
          <a:solidFill>
            <a:srgbClr val="172038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94176" y="5184648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tier</a:t>
            </a: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 档位</a:t>
            </a:r>
          </a:p>
          <a:p>
            <a:pPr>
              <a:spcBef>
                <a:spcPts val="300"/>
              </a:spcBef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fast · normal · deep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62472" y="5074920"/>
            <a:ext cx="2395728" cy="896112"/>
          </a:xfrm>
          <a:prstGeom prst="roundRect">
            <a:avLst>
              <a:gd name="adj" fmla="val 10000"/>
            </a:avLst>
          </a:prstGeom>
          <a:solidFill>
            <a:srgbClr val="172038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2" y="5184648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command</a:t>
            </a: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 检查</a:t>
            </a:r>
          </a:p>
          <a:p>
            <a:pPr>
              <a:spcBef>
                <a:spcPts val="300"/>
              </a:spcBef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任意可执行检查命令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67928" y="5074920"/>
            <a:ext cx="2395728" cy="896112"/>
          </a:xfrm>
          <a:prstGeom prst="roundRect">
            <a:avLst>
              <a:gd name="adj" fmla="val 10000"/>
            </a:avLst>
          </a:prstGeom>
          <a:solidFill>
            <a:srgbClr val="172038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05088" y="5184648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hard_gate</a:t>
            </a: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 硬门禁</a:t>
            </a:r>
          </a:p>
          <a:p>
            <a:pPr>
              <a:spcBef>
                <a:spcPts val="300"/>
              </a:spcBef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true → 失败即阻断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Grow · Fitness   |   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GROW · 方法治理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方法是默认值集合，不是“每件事都做”的清单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FF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63040"/>
            <a:ext cx="5852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先选档位（profile.yaml）：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light：文档 / 测试 / 原型（目标上下文 + 测试 + review）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standard：既有服务新特性（路径上下文 + 契约 + fast gate）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regulated：敏感数据 / 支付 / 身份（+威胁建模 + 审批 + 审计证据）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experimental：一次性 spike（显式过期 + 隔离）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例外是设计出来的，不是被静默忽略的：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   – </a:t>
            </a:r>
            <a:r>
              <a:rPr sz="9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narrow · time-bounded · searchable；过期 / 无主例外不被门禁认可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50" b="1" i="0">
                <a:solidFill>
                  <a:srgbClr val="FF3D8A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证据优先于代理指标：行数 / grep / 覆盖率只是信号，不是正确性证明。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1463040"/>
            <a:ext cx="4297680" cy="1371600"/>
          </a:xfrm>
          <a:prstGeom prst="roundRect">
            <a:avLst>
              <a:gd name="adj" fmla="val 90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1572768"/>
            <a:ext cx="3931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证据随风险分层</a:t>
            </a:r>
          </a:p>
          <a:p>
            <a:pPr>
              <a:lnSpc>
                <a:spcPct val="105000"/>
              </a:lnSpc>
              <a:spcBef>
                <a:spcPts val="350"/>
              </a:spcBef>
            </a:pPr>
            <a:r>
              <a:rPr sz="1019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Public API → schema/契约测试 + 兼容决策</a:t>
            </a:r>
          </a:p>
          <a:p>
            <a:pPr>
              <a:lnSpc>
                <a:spcPct val="105000"/>
              </a:lnSpc>
              <a:spcBef>
                <a:spcPts val="350"/>
              </a:spcBef>
            </a:pPr>
            <a:r>
              <a:rPr sz="1019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DB/表结构 → 迁移演练 + 回滚计划 + 幂等</a:t>
            </a:r>
          </a:p>
          <a:p>
            <a:pPr>
              <a:lnSpc>
                <a:spcPct val="105000"/>
              </a:lnSpc>
              <a:spcBef>
                <a:spcPts val="350"/>
              </a:spcBef>
            </a:pPr>
            <a:r>
              <a:rPr sz="1019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权限/数据 → 威胁建模 + 负向测试 + 密钥扫描</a:t>
            </a:r>
          </a:p>
          <a:p>
            <a:pPr>
              <a:lnSpc>
                <a:spcPct val="105000"/>
              </a:lnSpc>
              <a:spcBef>
                <a:spcPts val="350"/>
              </a:spcBef>
            </a:pPr>
            <a:r>
              <a:rPr sz="1019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UI → typecheck + 无障碍 + 三态证据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3063240"/>
            <a:ext cx="4297680" cy="2743200"/>
          </a:xfrm>
          <a:prstGeom prst="roundRect">
            <a:avLst>
              <a:gd name="adj" fmla="val 7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3182112"/>
            <a:ext cx="39319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完整度分两层</a:t>
            </a:r>
          </a:p>
          <a:p>
            <a:pPr>
              <a:lnSpc>
                <a:spcPct val="112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Technical done：代码 + 测试 + 构建 + 适用门禁</a:t>
            </a:r>
          </a:p>
          <a:p>
            <a:pPr>
              <a:lnSpc>
                <a:spcPct val="112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Operational done：达生产还需部署/可观测/迁移/回滚/UAT</a:t>
            </a:r>
          </a:p>
          <a:p>
            <a:pPr>
              <a:lnSpc>
                <a:spcPct val="112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——由发布 owner 决定哪一层适用</a:t>
            </a:r>
          </a:p>
          <a:p>
            <a:pPr>
              <a:lnSpc>
                <a:spcPct val="112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信任边界：仓库文本一律不可信输入；最小写权限；禁用危险操作需审批</a:t>
            </a:r>
          </a:p>
          <a:p>
            <a:pPr>
              <a:lnSpc>
                <a:spcPct val="112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Skill 可用性是可执行契约：verify_skill + 运行时 hit/fallback 记录</a:t>
            </a:r>
          </a:p>
          <a:p>
            <a:pPr>
              <a:lnSpc>
                <a:spcPct val="112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先用基线衡量，勿无样本宣称提速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Grow · 治理   |   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USE · 接入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hek init：Agent 驱动地把方法论装进目标项目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822960" y="1481328"/>
          <a:ext cx="5486399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4555"/>
                <a:gridCol w="1290917"/>
                <a:gridCol w="2710927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安装方式</a:t>
                      </a:r>
                    </a:p>
                  </a:txBody>
                  <a:tcPr marL="73152" marR="54864" marT="18288" marB="18288" anchor="ctr">
                    <a:solidFill>
                      <a:srgbClr val="FFB0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适用</a:t>
                      </a:r>
                    </a:p>
                  </a:txBody>
                  <a:tcPr marL="73152" marR="54864" marT="18288" marB="18288" anchor="ctr">
                    <a:solidFill>
                      <a:srgbClr val="FFB0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特点</a:t>
                      </a:r>
                    </a:p>
                  </a:txBody>
                  <a:tcPr marL="73152" marR="54864" marT="18288" marB="18288" anchor="ctr">
                    <a:solidFill>
                      <a:srgbClr val="FFB02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npm 全局安装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本机日常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装一次，任意项目目录一键初始化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npx 按次运行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试用 / 偶尔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不留全局痕迹，直接运行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CI / 无人值守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自动化环境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机器可读输出，不拉起交互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822960" y="3456432"/>
            <a:ext cx="5486400" cy="1417320"/>
          </a:xfrm>
          <a:prstGeom prst="roundRect">
            <a:avLst>
              <a:gd name="adj" fmla="val 9000"/>
            </a:avLst>
          </a:prstGeom>
          <a:solidFill>
            <a:srgbClr val="2A1D08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566160"/>
            <a:ext cx="5074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两条安全设计</a:t>
            </a:r>
          </a:p>
          <a:p>
            <a:pPr>
              <a:lnSpc>
                <a:spcPct val="112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只读预览：先看将安装什么，确认后才落盘</a:t>
            </a:r>
          </a:p>
          <a:p>
            <a:pPr>
              <a:lnSpc>
                <a:spcPct val="112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无人值守遇全新项目 → 先装脚手架、以失败退出，绝不留半成品</a:t>
            </a:r>
          </a:p>
          <a:p>
            <a:pPr>
              <a:spcBef>
                <a:spcPts val="500"/>
              </a:spcBef>
            </a:pPr>
            <a:r>
              <a:rPr sz="1050" b="0" i="1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hek agents 随时查看各 Agent 的安装状态。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1481328"/>
            <a:ext cx="4754880" cy="3108960"/>
          </a:xfrm>
          <a:prstGeom prst="roundRect">
            <a:avLst>
              <a:gd name="adj" fmla="val 7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1600200"/>
            <a:ext cx="4343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接入流程</a:t>
            </a:r>
          </a:p>
          <a:p>
            <a:pPr>
              <a:lnSpc>
                <a:spcPct val="114000"/>
              </a:lnSpc>
              <a:spcBef>
                <a:spcPts val="6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1. 选安装范围：Tier 1 轻量 / Tier 2 完整（默认）</a:t>
            </a:r>
          </a:p>
          <a:p>
            <a:pPr>
              <a:lnSpc>
                <a:spcPct val="114000"/>
              </a:lnSpc>
              <a:spcBef>
                <a:spcPts val="6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2. 选已安装的 Agent（Claude / Codex / OpenCode / Cursor / Gemini / Trae；WorkBuddy / Trae Work 走 handoff）</a:t>
            </a:r>
          </a:p>
          <a:p>
            <a:pPr>
              <a:lnSpc>
                <a:spcPct val="114000"/>
              </a:lnSpc>
              <a:spcBef>
                <a:spcPts val="6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3. 在解析出的项目根打开对应 Agent CLI，传入 Kit 路径与接入契约</a:t>
            </a:r>
          </a:p>
          <a:p>
            <a:pPr>
              <a:lnSpc>
                <a:spcPct val="114000"/>
              </a:lnSpc>
              <a:spcBef>
                <a:spcPts val="6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4. Agent 读取事实 → 只读计划 → 确认 → 填占位 → 跑 canonical 脚本 → 确定性检查</a:t>
            </a:r>
          </a:p>
          <a:p>
            <a:pPr>
              <a:lnSpc>
                <a:spcPct val="114000"/>
              </a:lnSpc>
              <a:spcBef>
                <a:spcPts val="6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5. 落盘 docs/methodology/onboarding.json（版本 / 摘要 / 校验）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548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5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Tier 1：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入口 + agent-policy.yaml + ai.json/AI.md + profile.yaml + OpenSpec 配置 + 生产策略脚手架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5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Tier 2：</a:t>
            </a:r>
            <a:r>
              <a:rPr sz="11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Tier 1 + Fitness 门禁脚本与规则 + 经验记忆（默认，本讲主体）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600"/>
              </a:spcAft>
            </a:pPr>
            <a:r>
              <a:rPr sz="105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▍</a:t>
            </a:r>
            <a:r>
              <a:rPr sz="115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版本管理：低→高同步资源 · 同版本仍查漂移 · 高→低（降级）直接阻断并报告迁移事项。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Use · 接入   |   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USE · 工程化落地成品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aegis · AI Agent 平台 · Spring AI 2.0 + 多模块 Maven 反应堆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371600"/>
            <a:ext cx="6126480" cy="4160520"/>
          </a:xfrm>
          <a:prstGeom prst="roundRect">
            <a:avLst>
              <a:gd name="adj" fmla="val 8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1371600"/>
            <a:ext cx="6126480" cy="502920"/>
          </a:xfrm>
          <a:prstGeom prst="roundRect">
            <a:avLst>
              <a:gd name="adj" fmla="val 8000"/>
            </a:avLst>
          </a:prstGeom>
          <a:solidFill>
            <a:srgbClr val="2A1D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371600"/>
            <a:ext cx="5669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项目画像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6596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0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基于 Spring AI 2.0 的多模块 AI Agent 平台：飞书事件 → 路由 → 日志分析五阶段流水线 → 格式化回复。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05184" y="2468880"/>
            <a:ext cx="2831678" cy="2606040"/>
          </a:xfrm>
          <a:prstGeom prst="roundRect">
            <a:avLst>
              <a:gd name="adj" fmla="val 35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1-module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6624" y="2560320"/>
            <a:ext cx="2648798" cy="24231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6384" y="505663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六层架构：内核 → 运行时 → Spring AI 适配 → 业务 Agent → 渠道 → 应用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1371600"/>
            <a:ext cx="2286000" cy="960120"/>
          </a:xfrm>
          <a:prstGeom prst="roundRect">
            <a:avLst>
              <a:gd name="adj" fmla="val 10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2" y="1444752"/>
            <a:ext cx="1965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  <a:p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已归档变更</a:t>
            </a:r>
          </a:p>
          <a:p>
            <a:pPr>
              <a:spcBef>
                <a:spcPts val="100"/>
              </a:spcBef>
            </a:pPr>
            <a:r>
              <a:rPr sz="8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OpenSpec 全生命周期跑通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600" y="1371600"/>
            <a:ext cx="2286000" cy="960120"/>
          </a:xfrm>
          <a:prstGeom prst="roundRect">
            <a:avLst>
              <a:gd name="adj" fmla="val 10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37192" y="1444752"/>
            <a:ext cx="1965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  <a:p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Fitness 规则</a:t>
            </a:r>
          </a:p>
          <a:p>
            <a:pPr>
              <a:spcBef>
                <a:spcPts val="100"/>
              </a:spcBef>
            </a:pPr>
            <a:r>
              <a:rPr sz="8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14 维度 · 30+ 指标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2450592"/>
            <a:ext cx="2286000" cy="960120"/>
          </a:xfrm>
          <a:prstGeom prst="roundRect">
            <a:avLst>
              <a:gd name="adj" fmla="val 10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14032" y="2523744"/>
            <a:ext cx="1965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v0.5.1</a:t>
            </a:r>
          </a:p>
          <a:p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HEK 版本</a:t>
            </a:r>
          </a:p>
          <a:p>
            <a:pPr>
              <a:spcBef>
                <a:spcPts val="100"/>
              </a:spcBef>
            </a:pPr>
            <a:r>
              <a:rPr sz="8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Tier 2 · 已升级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2600" y="2450592"/>
            <a:ext cx="2286000" cy="960120"/>
          </a:xfrm>
          <a:prstGeom prst="roundRect">
            <a:avLst>
              <a:gd name="adj" fmla="val 10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37192" y="2523744"/>
            <a:ext cx="1965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9B6BFF"/>
                </a:solidFill>
                <a:latin typeface="Microsoft YaHei"/>
                <a:ea typeface="Microsoft YaHei"/>
                <a:cs typeface="Microsoft YaHei"/>
              </a:rPr>
              <a:t>6 层</a:t>
            </a:r>
          </a:p>
          <a:p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架构分层</a:t>
            </a:r>
          </a:p>
          <a:p>
            <a:pPr>
              <a:spcBef>
                <a:spcPts val="100"/>
              </a:spcBef>
            </a:pPr>
            <a:r>
              <a:rPr sz="850" b="0" i="0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契约优先 · 抽象先行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3657600"/>
            <a:ext cx="4846320" cy="1874519"/>
          </a:xfrm>
          <a:prstGeom prst="roundRect">
            <a:avLst>
              <a:gd name="adj" fmla="val 80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87184" y="3767328"/>
            <a:ext cx="43891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落地构成 · 装进仓库本身</a:t>
            </a:r>
          </a:p>
          <a:p>
            <a:pPr>
              <a:lnSpc>
                <a:spcPct val="110000"/>
              </a:lnSpc>
              <a:spcBef>
                <a:spcPts val="350"/>
              </a:spcBef>
            </a:pPr>
            <a:r>
              <a:rPr sz="9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方法论核心：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20+ 篇核心文档 · 控制脚本 · 变更模板</a:t>
            </a:r>
          </a:p>
          <a:p>
            <a:pPr>
              <a:lnSpc>
                <a:spcPct val="110000"/>
              </a:lnSpc>
              <a:spcBef>
                <a:spcPts val="350"/>
              </a:spcBef>
            </a:pPr>
            <a:r>
              <a:rPr sz="9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Fitness 门禁：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17 条规则 + 校验脚本 · 质量基线硬约束</a:t>
            </a:r>
          </a:p>
          <a:p>
            <a:pPr>
              <a:lnSpc>
                <a:spcPct val="110000"/>
              </a:lnSpc>
              <a:spcBef>
                <a:spcPts val="350"/>
              </a:spcBef>
            </a:pPr>
            <a:r>
              <a:rPr sz="9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OpenSpec 生命周期：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harness-engineering schema · 7 个原生 Skill</a:t>
            </a:r>
          </a:p>
          <a:p>
            <a:pPr>
              <a:lnSpc>
                <a:spcPct val="110000"/>
              </a:lnSpc>
              <a:spcBef>
                <a:spcPts val="350"/>
              </a:spcBef>
            </a:pPr>
            <a:r>
              <a:rPr sz="9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Engineering Skill：</a:t>
            </a:r>
            <a:r>
              <a:rPr sz="9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backend profile · reference · onboarding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669280"/>
            <a:ext cx="11210544" cy="868680"/>
          </a:xfrm>
          <a:prstGeom prst="roundRect">
            <a:avLst>
              <a:gd name="adj" fmla="val 10000"/>
            </a:avLst>
          </a:prstGeom>
          <a:solidFill>
            <a:srgbClr val="172038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5669280"/>
            <a:ext cx="10789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代表性变更：</a:t>
            </a:r>
            <a:r>
              <a:rPr sz="10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能力驱动 AI 平台  ·  日志分析闭环  ·  RCA 证据分析  ·  飞书流式交互  ·  意图识别路由  ·  技能声明式加载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Use · 落地成品   |   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10561320" y="164592"/>
            <a:ext cx="1417320" cy="1417320"/>
          </a:xfrm>
          <a:prstGeom prst="donut">
            <a:avLst>
              <a:gd name="adj" fmla="val 3500"/>
            </a:avLst>
          </a:prstGeom>
          <a:solidFill>
            <a:srgbClr val="00D9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ut 3"/>
          <p:cNvSpPr/>
          <p:nvPr/>
        </p:nvSpPr>
        <p:spPr>
          <a:xfrm>
            <a:off x="10954512" y="548640"/>
            <a:ext cx="685800" cy="685800"/>
          </a:xfrm>
          <a:prstGeom prst="donut">
            <a:avLst>
              <a:gd name="adj" fmla="val 6000"/>
            </a:avLst>
          </a:prstGeom>
          <a:solidFill>
            <a:srgbClr val="9B6B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495" y="6035040"/>
            <a:ext cx="1371600" cy="32004"/>
          </a:xfrm>
          <a:prstGeom prst="rect">
            <a:avLst/>
          </a:prstGeom>
          <a:solidFill>
            <a:srgbClr val="00D9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48695" y="6153912"/>
            <a:ext cx="914400" cy="32004"/>
          </a:xfrm>
          <a:prstGeom prst="rect">
            <a:avLst/>
          </a:prstGeom>
          <a:solidFill>
            <a:srgbClr val="00D9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14455" y="6272784"/>
            <a:ext cx="548640" cy="32004"/>
          </a:xfrm>
          <a:prstGeom prst="rect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84048"/>
            <a:ext cx="146304" cy="420624"/>
          </a:xfrm>
          <a:prstGeom prst="roundRect">
            <a:avLst>
              <a:gd name="adj" fmla="val 50000"/>
            </a:avLst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回顾与演进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4008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这套系统现在到哪、边界在哪、怎么衡量它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225296"/>
            <a:ext cx="566928" cy="45720"/>
          </a:xfrm>
          <a:prstGeom prst="rect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35024" y="1225296"/>
            <a:ext cx="256032" cy="45720"/>
          </a:xfrm>
          <a:prstGeom prst="rect">
            <a:avLst/>
          </a:prstGeom>
          <a:solidFill>
            <a:srgbClr val="9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344" y="1245412"/>
            <a:ext cx="1828800" cy="12801"/>
          </a:xfrm>
          <a:prstGeom prst="rect">
            <a:avLst/>
          </a:prstGeom>
          <a:solidFill>
            <a:srgbClr val="28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630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版本演进（选）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822960" y="1920240"/>
          <a:ext cx="5394959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7275"/>
                <a:gridCol w="4007684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73152" marR="54864" marT="18288" marB="18288" anchor="ctr">
                    <a:solidFill>
                      <a:srgbClr val="9B6B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060A1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要点</a:t>
                      </a:r>
                    </a:p>
                  </a:txBody>
                  <a:tcPr marL="73152" marR="54864" marT="18288" marB="18288" anchor="ctr">
                    <a:solidFill>
                      <a:srgbClr val="9B6B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对话式接入 · hek CLI · 版本感知升级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需求反思 · 任务图 DAG · 执行证据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OpenSpec 为生命周期所有者 · 治理侧车</a:t>
                      </a:r>
                    </a:p>
                  </a:txBody>
                  <a:tcPr marL="73152" marR="54864" marT="18288" marB="18288" anchor="ctr">
                    <a:solidFill>
                      <a:srgbClr val="0D13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0.5.1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E8EEF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Agent 隐式路由 · 跨平台 CI</a:t>
                      </a:r>
                    </a:p>
                  </a:txBody>
                  <a:tcPr marL="73152" marR="54864" marT="18288" marB="18288" anchor="ctr">
                    <a:solidFill>
                      <a:srgbClr val="121A2E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537960" y="1463040"/>
            <a:ext cx="4846320" cy="2286000"/>
          </a:xfrm>
          <a:prstGeom prst="roundRect">
            <a:avLst>
              <a:gd name="adj" fmla="val 9000"/>
            </a:avLst>
          </a:prstGeom>
          <a:solidFill>
            <a:srgbClr val="2A1D08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600200"/>
            <a:ext cx="44805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FFB020"/>
                </a:solidFill>
                <a:latin typeface="Microsoft YaHei"/>
                <a:ea typeface="Microsoft YaHei"/>
                <a:cs typeface="Microsoft YaHei"/>
              </a:rPr>
              <a:t>边界：它不做什么</a:t>
            </a:r>
          </a:p>
          <a:p>
            <a:pPr>
              <a:lnSpc>
                <a:spcPct val="112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不是放之四海皆准的清单——档位可裁剪</a:t>
            </a:r>
          </a:p>
          <a:p>
            <a:pPr>
              <a:lnSpc>
                <a:spcPct val="112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不替代人工 Review / 审批 / 领域判断</a:t>
            </a:r>
          </a:p>
          <a:p>
            <a:pPr>
              <a:lnSpc>
                <a:spcPct val="112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不假装所有平台支持同一 manifest（可用性以运行时观测为准）</a:t>
            </a:r>
          </a:p>
          <a:p>
            <a:pPr>
              <a:lnSpc>
                <a:spcPct val="112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缓存/命中率测的是“前缀稳定”，不是模型质量</a:t>
            </a:r>
          </a:p>
          <a:p>
            <a:pPr>
              <a:lnSpc>
                <a:spcPct val="112000"/>
              </a:lnSpc>
              <a:spcBef>
                <a:spcPts val="50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· 文档与代码要同步保鲜，否则退化为流程形式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3977639"/>
            <a:ext cx="4846320" cy="1920240"/>
          </a:xfrm>
          <a:prstGeom prst="roundRect">
            <a:avLst>
              <a:gd name="adj" fmla="val 9000"/>
            </a:avLst>
          </a:prstGeom>
          <a:solidFill>
            <a:srgbClr val="0C241F"/>
          </a:solidFill>
          <a:ln w="12700">
            <a:solidFill>
              <a:srgbClr val="00FF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4114800"/>
            <a:ext cx="44805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落地收益（应设基线再衡量）</a:t>
            </a:r>
          </a:p>
          <a:p>
            <a:pPr>
              <a:lnSpc>
                <a:spcPct val="110000"/>
              </a:lnSpc>
              <a:spcBef>
                <a:spcPts val="45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改对（review 迭代↓ · 返工率↓ · 逃逸缺陷↓）</a:t>
            </a:r>
          </a:p>
          <a:p>
            <a:pPr>
              <a:lnSpc>
                <a:spcPct val="110000"/>
              </a:lnSpc>
              <a:spcBef>
                <a:spcPts val="45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改稳（变更失败率↓ · 恢复时间↓）</a:t>
            </a:r>
          </a:p>
          <a:p>
            <a:pPr>
              <a:lnSpc>
                <a:spcPct val="110000"/>
              </a:lnSpc>
              <a:spcBef>
                <a:spcPts val="45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看得清（完整证据的变更占比↑ · 审计闭环）</a:t>
            </a:r>
          </a:p>
          <a:p>
            <a:pPr>
              <a:lnSpc>
                <a:spcPct val="110000"/>
              </a:lnSpc>
              <a:spcBef>
                <a:spcPts val="45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省成本（稳定前缀 → prompt cache 命中 ↑）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553712"/>
            <a:ext cx="53949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什么项目该上 Harness</a:t>
            </a:r>
          </a:p>
          <a:p>
            <a:pPr>
              <a:lnSpc>
                <a:spcPct val="112000"/>
              </a:lnSpc>
              <a:spcBef>
                <a:spcPts val="45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需要稳定架构的团队 / 领域工程</a:t>
            </a:r>
          </a:p>
          <a:p>
            <a:pPr>
              <a:lnSpc>
                <a:spcPct val="112000"/>
              </a:lnSpc>
              <a:spcBef>
                <a:spcPts val="45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AI 已实质参与日常变更，想从“生成器”变“伙伴”</a:t>
            </a:r>
          </a:p>
          <a:p>
            <a:pPr>
              <a:lnSpc>
                <a:spcPct val="112000"/>
              </a:lnSpc>
              <a:spcBef>
                <a:spcPts val="450"/>
              </a:spcBef>
            </a:pPr>
            <a:r>
              <a:rPr sz="110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▸ 关注合规/可审计，想让证据成为资产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87044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1">
                <a:solidFill>
                  <a:srgbClr val="8A97AD"/>
                </a:solidFill>
                <a:latin typeface="Microsoft YaHei"/>
                <a:ea typeface="Microsoft YaHei"/>
                <a:cs typeface="Microsoft YaHei"/>
              </a:rPr>
              <a:t>低风险局部改动可走 light 档——方法论是默认值，不是强制每处套用。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Harness Engineering Kit · 全局技术导览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6510528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回顾   |   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F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20880000">
            <a:off x="-1463040" y="4846320"/>
            <a:ext cx="16093440" cy="640080"/>
          </a:xfrm>
          <a:prstGeom prst="parallelogram">
            <a:avLst/>
          </a:prstGeom>
          <a:solidFill>
            <a:srgbClr val="00D9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 rot="20880000">
            <a:off x="-1463040" y="5623560"/>
            <a:ext cx="16093440" cy="320040"/>
          </a:xfrm>
          <a:prstGeom prst="parallelogram">
            <a:avLst/>
          </a:prstGeom>
          <a:solidFill>
            <a:srgbClr val="9B6B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ightning Bolt 5"/>
          <p:cNvSpPr/>
          <p:nvPr/>
        </p:nvSpPr>
        <p:spPr>
          <a:xfrm>
            <a:off x="10195560" y="685800"/>
            <a:ext cx="868680" cy="2194560"/>
          </a:xfrm>
          <a:prstGeom prst="lightningBolt">
            <a:avLst/>
          </a:prstGeom>
          <a:solidFill>
            <a:srgbClr val="00FF9D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8580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写在最后 · ONE MORE 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143000"/>
            <a:ext cx="8778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把“人脑里的规则”，变成</a:t>
            </a:r>
            <a:r>
              <a:rPr sz="300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“仓库里的规则”</a:t>
            </a:r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spcBef>
                <a:spcPts val="600"/>
              </a:spcBef>
            </a:pPr>
            <a:r>
              <a:rPr sz="1800" b="0" i="0">
                <a:solidFill>
                  <a:srgbClr val="C9D6E4"/>
                </a:solidFill>
                <a:latin typeface="Microsoft YaHei"/>
                <a:ea typeface="Microsoft YaHei"/>
                <a:cs typeface="Microsoft YaHei"/>
              </a:rPr>
              <a:t>让 AI 每次会话，都站在更可靠的基础上。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00400"/>
            <a:ext cx="10607040" cy="2148840"/>
          </a:xfrm>
          <a:prstGeom prst="roundRect">
            <a:avLst>
              <a:gd name="adj" fmla="val 6000"/>
            </a:avLst>
          </a:prstGeom>
          <a:solidFill>
            <a:srgbClr val="11182C"/>
          </a:solidFill>
          <a:ln w="9525">
            <a:solidFill>
              <a:srgbClr val="28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364992"/>
            <a:ext cx="1005840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0FF9D"/>
                </a:solidFill>
                <a:latin typeface="Microsoft YaHei"/>
                <a:ea typeface="Microsoft YaHei"/>
                <a:cs typeface="Microsoft YaHei"/>
              </a:rPr>
              <a:t>五条带走</a:t>
            </a:r>
          </a:p>
          <a:p>
            <a:pPr>
              <a:lnSpc>
                <a:spcPct val="112000"/>
              </a:lnSpc>
              <a:spcBef>
                <a:spcPts val="650"/>
              </a:spcBef>
            </a:pPr>
            <a:r>
              <a:rPr sz="13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1. 规格先于代码 → OpenSpec change 四件套，delta 验证后合回权威库</a:t>
            </a:r>
          </a:p>
          <a:p>
            <a:pPr>
              <a:lnSpc>
                <a:spcPct val="112000"/>
              </a:lnSpc>
              <a:spcBef>
                <a:spcPts val="650"/>
              </a:spcBef>
            </a:pPr>
            <a:r>
              <a:rPr sz="13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2. 上下文决定质量 → 确定性加载，别让 Agent 搜</a:t>
            </a:r>
          </a:p>
          <a:p>
            <a:pPr>
              <a:lnSpc>
                <a:spcPct val="112000"/>
              </a:lnSpc>
              <a:spcBef>
                <a:spcPts val="650"/>
              </a:spcBef>
            </a:pPr>
            <a:r>
              <a:rPr sz="13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3. 契约与审批绑定 → 摘要一致才有效，变更即失效</a:t>
            </a:r>
          </a:p>
          <a:p>
            <a:pPr>
              <a:lnSpc>
                <a:spcPct val="112000"/>
              </a:lnSpc>
              <a:spcBef>
                <a:spcPts val="650"/>
              </a:spcBef>
            </a:pPr>
            <a:r>
              <a:rPr sz="1350" b="0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4. 完成 = 门禁 + 证据 → 代码生成 ≠ 做完；错误要反哺成规则</a:t>
            </a:r>
          </a:p>
          <a:p>
            <a:pPr>
              <a:lnSpc>
                <a:spcPct val="112000"/>
              </a:lnSpc>
              <a:spcBef>
                <a:spcPts val="650"/>
              </a:spcBef>
            </a:pPr>
            <a:r>
              <a:rPr sz="1350" b="1" i="0">
                <a:solidFill>
                  <a:srgbClr val="E8EEF8"/>
                </a:solidFill>
                <a:latin typeface="Microsoft YaHei"/>
                <a:ea typeface="Microsoft YaHei"/>
                <a:cs typeface="Microsoft YaHei"/>
              </a:rPr>
              <a:t>5. 从“生成器”到“伙伴” → 仓库内控制系统 Harness Engineering Kit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715000"/>
            <a:ext cx="5577840" cy="310896"/>
          </a:xfrm>
          <a:prstGeom prst="roundRect">
            <a:avLst>
              <a:gd name="adj" fmla="val 50000"/>
            </a:avLst>
          </a:prstGeom>
          <a:solidFill>
            <a:srgbClr val="0B1120"/>
          </a:solidFill>
          <a:ln w="12700">
            <a:solidFill>
              <a:srgbClr val="00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GitHub · 8425334/harness-engineering-kit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28816" y="5715000"/>
            <a:ext cx="2793491" cy="310896"/>
          </a:xfrm>
          <a:prstGeom prst="roundRect">
            <a:avLst>
              <a:gd name="adj" fmla="val 50000"/>
            </a:avLst>
          </a:prstGeom>
          <a:solidFill>
            <a:srgbClr val="0B1120"/>
          </a:solidFill>
          <a:ln w="12700">
            <a:solidFill>
              <a:srgbClr val="00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 i="0">
                <a:solidFill>
                  <a:srgbClr val="00D9FF"/>
                </a:solidFill>
                <a:latin typeface="Microsoft YaHei"/>
                <a:ea typeface="Microsoft YaHei"/>
                <a:cs typeface="Microsoft YaHei"/>
              </a:rPr>
              <a:t>README.zh · AI 实战教程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分享人：沈学海   ·   </a:t>
            </a:r>
            <a:r>
              <a:rPr sz="1100" b="0" i="0">
                <a:solidFill>
                  <a:srgbClr val="5A667E"/>
                </a:solidFill>
                <a:latin typeface="Microsoft YaHei"/>
                <a:ea typeface="Microsoft YaHei"/>
                <a:cs typeface="Microsoft YaHei"/>
              </a:rPr>
              <a:t>感谢聆听 · 欢迎交流讨论  |  讲不完的细节全部落在仓库里，可按文档逐步实操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
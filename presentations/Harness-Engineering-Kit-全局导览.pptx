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开场重新定位：本场不穷尽方法论，聚焦三件事——①看清框架结构；②解释 aegis 实际用到的概念；③形成可执行的使用路径。细节留在仓库。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五段导览，重心后移：What 用一张框架图立骨架，How 只讲 aegis 实际用到的概念，Grow 合并成一页，重点落在 Use 的可执行路径。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只做定位：不是讲模型原理，而是告诉听众为什么项目里要多几份文件和几道门。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把分工讲成一条天然分割线，收敛到一句可带走的话。不做细节展开，只建立『模型自述 vs 外部证明』的心智模型。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这张是全场的骨架。五件事各占一行，不展开，先让听众建立整体地图：原则/流程/产物/治理/反哺各落在仓库哪些路径。后面所有页都回指这五个框。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用缰绳隐喻 + 三级演进：Prompt → Context → Harness。两张缰绳（Agent 级+Project 级）中，本次只展开 Project Harness。配图为黑白线稿（harness-metaphor-bw.jpg）。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保留一页 OpenSpec 概念即可；重点让听众知道真实 change 在哪里、四类产物分别去哪看。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生命周期压成一页：顶部六步 chevron，下面每步一句话 + 主色。不展开每步细节，只给出模板心智。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上下文落地到 aegis：根 ai.json 做机器路由，实际加载根 AI.md、命中的模块 AI.md，以及 docs/fitness 等受保护规则。重点是路径命中，不是把所有文件塞进 prompt。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规格演进：左权威库 30+ 份，右四条『变更→权威规格』真实增长线。仓库永不描述进行中想法；Verify→Sync 通过才合回。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把『Design 门禁 + Apply 证据』合并成一页，右边用反面对照讲清跳过门禁的代价。aegis 的 capability 平台里就是这么走的。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RAM/D 精简成一页：四步 + 反面对照。强调它就是个心智检查，不用上纲上线。不再展开 LLM 抽象/后端前端两个 Profile。可为现场演示简单走一个控制器例子。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 Self-Refine、经验记忆、Fitness 与运行时治理区分开：失败先形成 change 或 lesson，验证后才升级成规则；token/context/payload 主要是 aegis 的运行时规格。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接入讲得实操：四步（引入/初始化/定档/验收）。强调先跑通再加门禁，档位可裁剪。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这是全场最实用的一页：把一次改动缩成六步脊柱，并点明哪些动脑、哪些可交给 Agent。可现场拿一个小需求从头走一遍。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把『任务类型→文件路径』做成速查表，全部是路径级约定，无终端命令，呼应『路径即真相』。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这页不再讲抽象收益，直接给 aegis 的模块地图和一次变更的操作顺序。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真实案例：xiaohua_vn 的身份核验跨服务接入。讲清网关薄、后端决策、DTO 契约和错误可追踪，避免展开活体算法细节。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真实案例：xiaohua_vn 短信指标从 magic 迁移到 aggr。只讲职责移动、强类型契约和兼容性，不展开 82 个指标的计算细节。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真实案例：xiaohua_vn 活体服务商确定性分流。用随机→按 cid 稳定命中的对比讲清问题、验证和回滚。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真实案例：aegis 的上下文窗口治理与代码查询人工确认。强调结构化能力收口和运行时预算，不展开 Spring AI 内部实现。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varhub-risk 还款衍生变量案例：重点讲 SQL 语义基线、分阶段计算、中间模型与多窗口复用，不展开 240+ 个变量清单。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varhub-risk 学历特征案例：重点讲跨数据源边界、身份关联与变量注册，不展开 4 张表的字段明细。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varhub-risk 订单卡类型案例：重点讲跨域 Dubbo 依赖、路由语义、单值变量契约和已知口径误差，不展开上游实现。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收尾前给判断标准：何时有价值、怎么衡量、什么项目适合。强调先立 baseline 再谈收益。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收束到五条结论，重点是『先跑通再加门禁』。现场可打开 aegis，走一条代表性变更展示四件套与 Fitness。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55119" cy="45720"/>
          </a:xfrm>
          <a:prstGeom prst="rect">
            <a:avLst/>
          </a:prstGeom>
          <a:solidFill>
            <a:srgbClr val="00D9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32688"/>
            <a:ext cx="2286000" cy="41148"/>
          </a:xfrm>
          <a:prstGeom prst="rect">
            <a:avLst/>
          </a:prstGeom>
          <a:solidFill>
            <a:srgbClr val="00D9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060704"/>
            <a:ext cx="1554480" cy="41148"/>
          </a:xfrm>
          <a:prstGeom prst="rect">
            <a:avLst/>
          </a:prstGeom>
          <a:solidFill>
            <a:srgbClr val="00D9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914400" cy="41148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9802368" y="1234440"/>
            <a:ext cx="438912" cy="2743200"/>
          </a:xfrm>
          <a:prstGeom prst="parallelogram">
            <a:avLst>
              <a:gd name="adj" fmla="val 20000"/>
            </a:avLst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10899648" y="2697480"/>
            <a:ext cx="256032" cy="1325880"/>
          </a:xfrm>
          <a:prstGeom prst="parallelogram">
            <a:avLst>
              <a:gd name="adj" fmla="val 20000"/>
            </a:avLst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8988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HARNESS ENGINEERING KIT  ·  AEGIS AGENT 实战样本</a:t>
            </a:r>
            <a:endParaRPr sz="130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810512"/>
            <a:ext cx="8595360" cy="1692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 </a:t>
            </a:r>
            <a:r>
              <a:rPr lang="en-US"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Coding </a:t>
            </a: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Agent，变成</a:t>
            </a:r>
            <a:endParaRPr sz="42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>
              <a:spcBef>
                <a:spcPts val="400"/>
              </a:spcBef>
            </a:pPr>
            <a:r>
              <a:rPr sz="42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可控、可批、可验、可审计的工程</a:t>
            </a:r>
            <a:endParaRPr sz="420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以 aegis Agent 为例 · 从模型调用到</a:t>
            </a:r>
            <a:r>
              <a:rPr lang="zh-CN" sz="16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项目</a:t>
            </a:r>
            <a:r>
              <a:rPr sz="16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规则，走通一次真实工程闭环</a:t>
            </a:r>
            <a:endParaRPr sz="160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4400" y="5559552"/>
            <a:ext cx="1069848" cy="310896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12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v0.5.1</a:t>
            </a:r>
            <a:endParaRPr sz="120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112010" y="5559425"/>
            <a:ext cx="1287780" cy="31115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12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MIT</a:t>
            </a:r>
            <a:endParaRPr sz="120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27551" y="5559552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12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多 Agent 适配</a:t>
            </a:r>
            <a:endParaRPr sz="120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8288" y="6547104"/>
            <a:ext cx="12155119" cy="27432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0899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分享人：沈学海   ·   </a:t>
            </a:r>
            <a:r>
              <a:rPr sz="11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github.com/8425334/harness-engineering-kit   ·   技术团队内部知识分享</a:t>
            </a:r>
            <a:endParaRPr sz="11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AGENDA</a:t>
            </a:r>
            <a:endParaRPr sz="115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五段结构：框架 → aegis 实现 → 可执行落地</a:t>
            </a:r>
            <a:endParaRPr sz="2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1572768"/>
            <a:ext cx="10515600" cy="841248"/>
          </a:xfrm>
          <a:prstGeom prst="roundRect">
            <a:avLst>
              <a:gd name="adj" fmla="val 14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1572768"/>
            <a:ext cx="118872" cy="841248"/>
          </a:xfrm>
          <a:prstGeom prst="rect">
            <a:avLst/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1664208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01  Why</a:t>
            </a:r>
            <a:endParaRPr sz="160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54680" y="1645920"/>
            <a:ext cx="4983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为什么 AI 能写码，却不能可靠交付</a:t>
            </a:r>
            <a:endParaRPr sz="14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0" y="1664208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三缺失；LLM 智能 vs 工程确定性的分工</a:t>
            </a:r>
            <a:endParaRPr sz="95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" y="2532888"/>
            <a:ext cx="10515600" cy="841248"/>
          </a:xfrm>
          <a:prstGeom prst="roundRect">
            <a:avLst>
              <a:gd name="adj" fmla="val 14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2532888"/>
            <a:ext cx="118872" cy="841248"/>
          </a:xfrm>
          <a:prstGeom prst="rect">
            <a:avLst/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2624328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02  What</a:t>
            </a:r>
            <a:endParaRPr sz="160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54680" y="2606040"/>
            <a:ext cx="4983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先看一张框架图</a:t>
            </a:r>
            <a:endParaRPr sz="14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0" y="2624328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HEK 五件事，一件事一页，不用每件都展开</a:t>
            </a:r>
            <a:endParaRPr sz="95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22960" y="3493008"/>
            <a:ext cx="10515600" cy="841248"/>
          </a:xfrm>
          <a:prstGeom prst="roundRect">
            <a:avLst>
              <a:gd name="adj" fmla="val 14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3493008"/>
            <a:ext cx="118872" cy="841248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3584448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03  How</a:t>
            </a:r>
            <a:endParaRPr sz="1600" b="1" i="0">
              <a:solidFill>
                <a:srgbClr val="9B6B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54680" y="3566160"/>
            <a:ext cx="4983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只讲三条底层原则</a:t>
            </a:r>
            <a:endParaRPr sz="14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600" y="3584448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规格先行 · 上下文按需 · 门禁留证据</a:t>
            </a:r>
            <a:endParaRPr sz="95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22960" y="4453128"/>
            <a:ext cx="10515600" cy="841248"/>
          </a:xfrm>
          <a:prstGeom prst="roundRect">
            <a:avLst>
              <a:gd name="adj" fmla="val 14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4453128"/>
            <a:ext cx="118872" cy="841248"/>
          </a:xfrm>
          <a:prstGeom prst="rect">
            <a:avLst/>
          </a:prstGeom>
          <a:solidFill>
            <a:srgbClr val="FF3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4544568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FF3D8A"/>
                </a:solidFill>
                <a:latin typeface="微软雅黑"/>
                <a:ea typeface="微软雅黑"/>
                <a:cs typeface="微软雅黑"/>
              </a:rPr>
              <a:t>04  Grow</a:t>
            </a:r>
            <a:endParaRPr sz="1600" b="1" i="0">
              <a:solidFill>
                <a:srgbClr val="FF3D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154680" y="4526280"/>
            <a:ext cx="4983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错误怎么反哺成门禁</a:t>
            </a:r>
            <a:endParaRPr sz="14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29600" y="4544568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Self-Refine · 经验记忆 · Fitness，合并成一页讲</a:t>
            </a:r>
            <a:endParaRPr sz="95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22960" y="5413248"/>
            <a:ext cx="10515600" cy="841248"/>
          </a:xfrm>
          <a:prstGeom prst="roundRect">
            <a:avLst>
              <a:gd name="adj" fmla="val 14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" y="5413248"/>
            <a:ext cx="118872" cy="84124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5568" y="5504688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05  Use</a:t>
            </a:r>
            <a:endParaRPr sz="160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154680" y="5486400"/>
            <a:ext cx="4983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重点：落地使用</a:t>
            </a:r>
            <a:endParaRPr sz="14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29600" y="5504688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怎么接入 · 一次改动怎么走 · 文件速查 · aegis 实例</a:t>
            </a:r>
            <a:endParaRPr sz="95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Agenda   |   1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01 · WHY</a:t>
            </a:r>
            <a:endParaRPr sz="115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问题：让 AI 写代码很容易，让它“可靠交付”很难</a:t>
            </a:r>
            <a:endParaRPr sz="2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371600"/>
            <a:ext cx="11064240" cy="384048"/>
          </a:xfrm>
          <a:prstGeom prst="roundRect">
            <a:avLst>
              <a:gd name="adj" fmla="val 14000"/>
            </a:avLst>
          </a:prstGeom>
          <a:solidFill>
            <a:srgbClr val="172038"/>
          </a:solidFill>
          <a:ln w="12700">
            <a:solidFill>
              <a:srgbClr val="00FF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371600"/>
            <a:ext cx="64008" cy="384048"/>
          </a:xfrm>
          <a:prstGeom prst="roundRect">
            <a:avLst>
              <a:gd name="adj" fmla="val 50000"/>
            </a:avLst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471232"/>
            <a:ext cx="10698480" cy="184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核心判断：先让 AI 读规则，再按 change 执行。</a:t>
            </a:r>
            <a:endParaRPr sz="11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2960" y="1920240"/>
            <a:ext cx="3346704" cy="1920240"/>
          </a:xfrm>
          <a:prstGeom prst="roundRect">
            <a:avLst>
              <a:gd name="adj" fmla="val 8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1920240"/>
            <a:ext cx="3346704" cy="548640"/>
          </a:xfrm>
          <a:prstGeom prst="roundRect">
            <a:avLst>
              <a:gd name="adj" fmla="val 90000"/>
            </a:avLst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20116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上下文缺失</a:t>
            </a:r>
            <a:endParaRPr sz="150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42416" y="269748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AI 不知道模块边界 / 依赖方向 / 允许的命令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spcBef>
                <a:spcPts val="600"/>
              </a:spcBef>
            </a:pPr>
            <a:r>
              <a:rPr sz="115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→ 只能靠临时搜索“猜”</a:t>
            </a:r>
            <a:endParaRPr sz="115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407408" y="1920240"/>
            <a:ext cx="3346704" cy="1920240"/>
          </a:xfrm>
          <a:prstGeom prst="roundRect">
            <a:avLst>
              <a:gd name="adj" fmla="val 8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07408" y="1920240"/>
            <a:ext cx="3346704" cy="548640"/>
          </a:xfrm>
          <a:prstGeom prst="roundRect">
            <a:avLst>
              <a:gd name="adj" fmla="val 90000"/>
            </a:avLst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26864" y="20116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契约缺失</a:t>
            </a:r>
            <a:endParaRPr sz="150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26864" y="269748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需求直接进实现，边写边改，职责漂移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spcBef>
                <a:spcPts val="600"/>
              </a:spcBef>
            </a:pPr>
            <a:r>
              <a:rPr sz="115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→ 没有规格对对齐，测试无从写起</a:t>
            </a:r>
            <a:endParaRPr sz="1150" b="1" i="0">
              <a:solidFill>
                <a:srgbClr val="9B6B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991856" y="1920240"/>
            <a:ext cx="3346704" cy="1920240"/>
          </a:xfrm>
          <a:prstGeom prst="roundRect">
            <a:avLst>
              <a:gd name="adj" fmla="val 8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91856" y="1920240"/>
            <a:ext cx="3346704" cy="548640"/>
          </a:xfrm>
          <a:prstGeom prst="roundRect">
            <a:avLst>
              <a:gd name="adj" fmla="val 90000"/>
            </a:avLst>
          </a:prstGeom>
          <a:solidFill>
            <a:srgbClr val="FF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12" y="20116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验证缺失</a:t>
            </a:r>
            <a:endParaRPr sz="150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11312" y="269748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“编译通过”≠“行为正确”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spcBef>
                <a:spcPts val="600"/>
              </a:spcBef>
            </a:pPr>
            <a:r>
              <a:rPr sz="1150" b="1" i="0">
                <a:solidFill>
                  <a:srgbClr val="FF5A5A"/>
                </a:solidFill>
                <a:latin typeface="微软雅黑"/>
                <a:ea typeface="微软雅黑"/>
                <a:cs typeface="微软雅黑"/>
              </a:rPr>
              <a:t>→ 没有门禁与证据，生成了=做完了</a:t>
            </a:r>
            <a:endParaRPr sz="1150" b="1" i="0">
              <a:solidFill>
                <a:srgbClr val="FF5A5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22960" y="4389120"/>
            <a:ext cx="10515600" cy="1280160"/>
          </a:xfrm>
          <a:prstGeom prst="roundRect">
            <a:avLst>
              <a:gd name="adj" fmla="val 8000"/>
            </a:avLst>
          </a:prstGeom>
          <a:solidFill>
            <a:srgbClr val="0C241F"/>
          </a:solidFill>
          <a:ln w="12700">
            <a:solidFill>
              <a:srgbClr val="00FF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526280"/>
            <a:ext cx="100584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aegis 的工程回答：</a:t>
            </a:r>
            <a:endParaRPr sz="125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「LLM 负责理解，仓库负责约束。」先把边界、规格和完成标准放进仓库，</a:t>
            </a: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再让 Agent 按步骤执行并留下证据。</a:t>
            </a:r>
            <a:endParaRPr sz="12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0292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00FF9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5051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99811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24570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49330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6693408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01 · 开篇·为什么</a:t>
            </a:r>
            <a:endParaRPr sz="85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Why   |   2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01 · WHY</a:t>
            </a:r>
            <a:endParaRPr sz="115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核心分工：AI 负责生成，人和仓库负责放行</a:t>
            </a:r>
            <a:endParaRPr sz="2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22960" y="1572768"/>
          <a:ext cx="10561319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5533"/>
                <a:gridCol w="3673502"/>
                <a:gridCol w="4362284"/>
              </a:tblGrid>
              <a:tr h="329184">
                <a:tc>
                  <a:txBody>
                    <a:bodyPr wrap="square"/>
                    <a:lstStyle/>
                    <a:p>
                      <a:endParaRPr sz="1100" b="1" i="0">
                        <a:solidFill>
                          <a:srgbClr val="060A1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3152" marR="54864" marT="18288" marB="18288" anchor="ctr">
                    <a:solidFill>
                      <a:srgbClr val="00D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60A1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可以做</a:t>
                      </a:r>
                      <a:endParaRPr sz="1100" b="1" i="0">
                        <a:solidFill>
                          <a:srgbClr val="060A1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3152" marR="54864" marT="18288" marB="18288" anchor="ctr">
                    <a:solidFill>
                      <a:srgbClr val="00D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60A1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项目必须管</a:t>
                      </a:r>
                      <a:endParaRPr sz="1100" b="1" i="0">
                        <a:solidFill>
                          <a:srgbClr val="060A1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3152" marR="54864" marT="18288" marB="18288" anchor="ctr">
                    <a:solidFill>
                      <a:srgbClr val="00D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E8EE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理解</a:t>
                      </a:r>
                      <a:endParaRPr sz="1100" b="0" i="0">
                        <a:solidFill>
                          <a:srgbClr val="E8EEF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3152" marR="54864" marT="18288" marB="18288" anchor="ctr">
                    <a:solidFill>
                      <a:srgbClr val="0D13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E8EE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读需求、提方案、写草稿</a:t>
                      </a:r>
                      <a:endParaRPr sz="1100" b="0" i="0">
                        <a:solidFill>
                          <a:srgbClr val="E8EEF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3152" marR="54864" marT="18288" marB="18288" anchor="ctr">
                    <a:solidFill>
                      <a:srgbClr val="0D13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E8EE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边界、职责、依赖方向</a:t>
                      </a:r>
                      <a:endParaRPr sz="1100" b="0" i="0">
                        <a:solidFill>
                          <a:srgbClr val="E8EEF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3152" marR="54864" marT="18288" marB="18288" anchor="ctr">
                    <a:solidFill>
                      <a:srgbClr val="0D132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E8EE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</a:t>
                      </a:r>
                      <a:endParaRPr sz="1100" b="0" i="0">
                        <a:solidFill>
                          <a:srgbClr val="E8EEF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3152" marR="54864" marT="18288" marB="18288" anchor="ctr">
                    <a:solidFill>
                      <a:srgbClr val="12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E8EE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按任务生成实现</a:t>
                      </a:r>
                      <a:endParaRPr sz="1100" b="0" i="0">
                        <a:solidFill>
                          <a:srgbClr val="E8EEF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3152" marR="54864" marT="18288" marB="18288" anchor="ctr">
                    <a:solidFill>
                      <a:srgbClr val="12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E8EE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审批、门禁、回滚条件</a:t>
                      </a:r>
                      <a:endParaRPr sz="1100" b="0" i="0">
                        <a:solidFill>
                          <a:srgbClr val="E8EEF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3152" marR="54864" marT="18288" marB="18288" anchor="ctr">
                    <a:solidFill>
                      <a:srgbClr val="121A2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E8EE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</a:t>
                      </a:r>
                      <a:endParaRPr sz="1100" b="0" i="0">
                        <a:solidFill>
                          <a:srgbClr val="E8EEF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3152" marR="54864" marT="18288" marB="18288" anchor="ctr">
                    <a:solidFill>
                      <a:srgbClr val="0D13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E8EE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给出“应该可以”</a:t>
                      </a:r>
                      <a:endParaRPr sz="1100" b="0" i="0">
                        <a:solidFill>
                          <a:srgbClr val="E8EEF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3152" marR="54864" marT="18288" marB="18288" anchor="ctr">
                    <a:solidFill>
                      <a:srgbClr val="0D13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E8EE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测试、证据、归档结果</a:t>
                      </a:r>
                      <a:endParaRPr sz="1100" b="0" i="0">
                        <a:solidFill>
                          <a:srgbClr val="E8EEF8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73152" marR="54864" marT="18288" marB="18288" anchor="ctr">
                    <a:solidFill>
                      <a:srgbClr val="0D1324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22960" y="4434840"/>
            <a:ext cx="10515600" cy="1051560"/>
          </a:xfrm>
          <a:prstGeom prst="roundRect">
            <a:avLst>
              <a:gd name="adj" fmla="val 9000"/>
            </a:avLst>
          </a:prstGeom>
          <a:solidFill>
            <a:srgbClr val="172038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26280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一句判断：</a:t>
            </a: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LLM 回答“它能做”，Harness 决定“允许它怎么做、做完怎么证明”。</a:t>
            </a:r>
            <a:endParaRPr sz="13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所以 HEK 的用法很简单：让 AI 先读 → 先批 → 再做 → 做完留证据。</a:t>
            </a:r>
            <a:endParaRPr sz="115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00FF9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5051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9811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4570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9330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693408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01 · 开篇·为什么</a:t>
            </a:r>
            <a:endParaRPr sz="85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Why   |   3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02 · WHAT · 框架总览</a:t>
            </a:r>
            <a:endParaRPr sz="115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38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HEK = Harness Engineering Kit，想法→可靠代码</a:t>
            </a:r>
            <a:endParaRPr sz="2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316736"/>
            <a:ext cx="11064240" cy="402336"/>
          </a:xfrm>
          <a:prstGeom prst="roundRect">
            <a:avLst>
              <a:gd name="adj" fmla="val 14000"/>
            </a:avLst>
          </a:prstGeom>
          <a:solidFill>
            <a:srgbClr val="172038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316736"/>
            <a:ext cx="64008" cy="402336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316736"/>
            <a:ext cx="106984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关键规则：原则管住智能 · 流程管住节奏 · 产物管住对账 · 治理管住放行 · 反哺管住长进</a:t>
            </a:r>
            <a:endParaRPr sz="11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1847088"/>
            <a:ext cx="1828800" cy="713232"/>
          </a:xfrm>
          <a:prstGeom prst="roundRect">
            <a:avLst>
              <a:gd name="adj" fmla="val 12000"/>
            </a:avLst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847088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① 原则</a:t>
            </a:r>
            <a:endParaRPr sz="150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60320" y="1847088"/>
            <a:ext cx="55778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LLM 只做理解，确定的部分交给管线</a:t>
            </a:r>
            <a:endParaRPr sz="12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75320" y="1847088"/>
            <a:ext cx="35661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00D9FF"/>
                </a:solidFill>
                <a:latin typeface="Consolas"/>
                <a:ea typeface="Consolas"/>
                <a:cs typeface="Consolas"/>
              </a:rPr>
              <a:t>根 CLAUDE.md · agent-policy.yaml · AI.md</a:t>
            </a:r>
            <a:endParaRPr sz="1000" b="0" i="0">
              <a:solidFill>
                <a:srgbClr val="00D9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66928" y="2642616"/>
            <a:ext cx="1828800" cy="713232"/>
          </a:xfrm>
          <a:prstGeom prst="roundRect">
            <a:avLst>
              <a:gd name="adj" fmla="val 12000"/>
            </a:avLst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642616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② 流程</a:t>
            </a:r>
            <a:endParaRPr sz="150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560320" y="2642616"/>
            <a:ext cx="55778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一条受控生命周期：探 → 提 → 做 → 验 → 并 → 存</a:t>
            </a:r>
            <a:endParaRPr sz="12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75320" y="2642616"/>
            <a:ext cx="35661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00FF9D"/>
                </a:solidFill>
                <a:latin typeface="Consolas"/>
                <a:ea typeface="Consolas"/>
                <a:cs typeface="Consolas"/>
              </a:rPr>
              <a:t>openspec/changes/* 生命周期</a:t>
            </a:r>
            <a:endParaRPr sz="1000" b="0" i="0">
              <a:solidFill>
                <a:srgbClr val="00FF9D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66928" y="3438144"/>
            <a:ext cx="1828800" cy="713232"/>
          </a:xfrm>
          <a:prstGeom prst="roundRect">
            <a:avLst>
              <a:gd name="adj" fmla="val 12000"/>
            </a:avLst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438144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③ 产物</a:t>
            </a:r>
            <a:endParaRPr sz="150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560320" y="3438144"/>
            <a:ext cx="55778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proposal / spec / design / tasks 四件套 + 权威规格</a:t>
            </a:r>
            <a:endParaRPr sz="12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75320" y="3438144"/>
            <a:ext cx="35661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9B6BFF"/>
                </a:solidFill>
                <a:latin typeface="Consolas"/>
                <a:ea typeface="Consolas"/>
                <a:cs typeface="Consolas"/>
              </a:rPr>
              <a:t>openspec/changes/ · openspec/specs/</a:t>
            </a:r>
            <a:endParaRPr sz="1000" b="0" i="0">
              <a:solidFill>
                <a:srgbClr val="9B6B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6928" y="4233672"/>
            <a:ext cx="1828800" cy="713232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233672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④ 治理</a:t>
            </a:r>
            <a:endParaRPr sz="150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560320" y="4233672"/>
            <a:ext cx="55778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审批绑定 + 门禁 + 证据，放行才写码</a:t>
            </a:r>
            <a:endParaRPr sz="12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75320" y="4233672"/>
            <a:ext cx="35661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FFB020"/>
                </a:solidFill>
                <a:latin typeface="Consolas"/>
                <a:ea typeface="Consolas"/>
                <a:cs typeface="Consolas"/>
              </a:rPr>
              <a:t>docs/fitness/ · execution-evidence</a:t>
            </a:r>
            <a:endParaRPr sz="1000" b="0" i="0">
              <a:solidFill>
                <a:srgbClr val="FFB02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66928" y="5029200"/>
            <a:ext cx="1828800" cy="713232"/>
          </a:xfrm>
          <a:prstGeom prst="roundRect">
            <a:avLst>
              <a:gd name="adj" fmla="val 12000"/>
            </a:avLst>
          </a:prstGeom>
          <a:solidFill>
            <a:srgbClr val="FF3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5029200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⑤ 反哺</a:t>
            </a:r>
            <a:endParaRPr sz="150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560320" y="5029200"/>
            <a:ext cx="55778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失败先记录，重复问题再固化为规则</a:t>
            </a:r>
            <a:endParaRPr sz="12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75320" y="5029200"/>
            <a:ext cx="35661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FF3D8A"/>
                </a:solidFill>
                <a:latin typeface="Consolas"/>
                <a:ea typeface="Consolas"/>
                <a:cs typeface="Consolas"/>
              </a:rPr>
              <a:t>docs/fitness/ · docs/methodology/lessons/</a:t>
            </a:r>
            <a:endParaRPr sz="1000" b="0" i="0">
              <a:solidFill>
                <a:srgbClr val="FF3D8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0292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75051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00D9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99811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24570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49330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693408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02 · 是什么·放什么</a:t>
            </a:r>
            <a:endParaRPr sz="85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What   |   4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02 · WHAT · Harness 是什么</a:t>
            </a:r>
            <a:endParaRPr sz="115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HEK 是项目里的 AI 使用说明书</a:t>
            </a:r>
            <a:endParaRPr sz="2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316736"/>
            <a:ext cx="11064240" cy="402336"/>
          </a:xfrm>
          <a:prstGeom prst="roundRect">
            <a:avLst>
              <a:gd name="adj" fmla="val 14000"/>
            </a:avLst>
          </a:prstGeom>
          <a:solidFill>
            <a:srgbClr val="172038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316736"/>
            <a:ext cx="64008" cy="402336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316736"/>
            <a:ext cx="106984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三层分工：Prompt 说清问题，Context 带对文件，Harness 管住变更。</a:t>
            </a:r>
            <a:endParaRPr sz="11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28600" y="2754630"/>
            <a:ext cx="4206240" cy="2446020"/>
          </a:xfrm>
          <a:prstGeom prst="roundRect">
            <a:avLst>
              <a:gd name="adj" fmla="val 35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arness-metaphor-bw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846070"/>
            <a:ext cx="4023360" cy="22631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63440" y="1828800"/>
            <a:ext cx="68580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Prompt Engineering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0000"/>
              </a:lnSpc>
            </a:pPr>
            <a:r>
              <a:rPr sz="115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把问题说清：这次要解决什么。</a:t>
            </a:r>
            <a:endParaRPr sz="115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↓  Context Engineering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0000"/>
              </a:lnSpc>
            </a:pPr>
            <a:r>
              <a:rPr sz="115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把文件带对：只加载命中的模块规则。</a:t>
            </a:r>
            <a:endParaRPr sz="115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↓  Harness Engineering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0000"/>
              </a:lnSpc>
            </a:pPr>
            <a:r>
              <a:rPr sz="115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把变更管住：规格、审批、任务、验证和证据都放回仓库。</a:t>
            </a:r>
            <a:endParaRPr sz="115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5051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00D9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9811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4570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9330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693408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02 · 是什么·放什么</a:t>
            </a:r>
            <a:endParaRPr sz="85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What   |   5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03 · HOW · 规格驱动 OpenSpec</a:t>
            </a:r>
            <a:endParaRPr sz="1150" b="1" i="0">
              <a:solidFill>
                <a:srgbClr val="9B6B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先写规格，再写代码：需求 → 规格 → 实现</a:t>
            </a:r>
            <a:endParaRPr sz="2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316736"/>
            <a:ext cx="11064240" cy="402336"/>
          </a:xfrm>
          <a:prstGeom prst="roundRect">
            <a:avLst>
              <a:gd name="adj" fmla="val 14000"/>
            </a:avLst>
          </a:prstGeom>
          <a:solidFill>
            <a:srgbClr val="172038"/>
          </a:solidFill>
          <a:ln w="12700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316736"/>
            <a:ext cx="64008" cy="402336"/>
          </a:xfrm>
          <a:prstGeom prst="roundRect">
            <a:avLst>
              <a:gd name="adj" fmla="val 50000"/>
            </a:avLst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316736"/>
            <a:ext cx="106984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关键规则：一个 change＝四件套（proposal/spec/design/tasks），起点是规格，不是代码。</a:t>
            </a:r>
            <a:endParaRPr sz="11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1810512"/>
            <a:ext cx="5577840" cy="4160520"/>
          </a:xfrm>
          <a:prstGeom prst="roundRect">
            <a:avLst>
              <a:gd name="adj" fmla="val 4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19202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四件套各自干什么</a:t>
            </a:r>
            <a:endParaRPr sz="1100" b="1" i="0">
              <a:solidFill>
                <a:srgbClr val="9B6B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6384" y="2267712"/>
            <a:ext cx="521208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00D9FF"/>
                </a:solidFill>
                <a:latin typeface="Consolas"/>
                <a:ea typeface="Consolas"/>
                <a:cs typeface="Consolas"/>
              </a:rPr>
              <a:t>▸ proposal.md</a:t>
            </a:r>
            <a:r>
              <a:rPr sz="10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  一句话立界：为什么做、范围与影响</a:t>
            </a:r>
            <a:endParaRPr sz="10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00D9FF"/>
                </a:solidFill>
                <a:latin typeface="Consolas"/>
                <a:ea typeface="Consolas"/>
                <a:cs typeface="Consolas"/>
              </a:rPr>
              <a:t>▸ spec.md（能力）</a:t>
            </a:r>
            <a:r>
              <a:rPr sz="10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  WHEN/THEN 描述可观测行为，先对齐‘要什么’</a:t>
            </a:r>
            <a:endParaRPr sz="10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00D9FF"/>
                </a:solidFill>
                <a:latin typeface="Consolas"/>
                <a:ea typeface="Consolas"/>
                <a:cs typeface="Consolas"/>
              </a:rPr>
              <a:t>▸ design.md</a:t>
            </a:r>
            <a:r>
              <a:rPr sz="10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  给开发者确认的方案包：架构·职责·时序·接口·风险</a:t>
            </a:r>
            <a:endParaRPr sz="10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00D9FF"/>
                </a:solidFill>
                <a:latin typeface="Consolas"/>
                <a:ea typeface="Consolas"/>
                <a:cs typeface="Consolas"/>
              </a:rPr>
              <a:t>▸ tasks.md</a:t>
            </a:r>
            <a:r>
              <a:rPr sz="10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  唯一任务源，勾选必须对应一次成功执行 + 证据</a:t>
            </a:r>
            <a:endParaRPr sz="10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" y="6035040"/>
            <a:ext cx="5577840" cy="457200"/>
          </a:xfrm>
          <a:prstGeom prst="roundRect">
            <a:avLst>
              <a:gd name="adj" fmla="val 14000"/>
            </a:avLst>
          </a:prstGeom>
          <a:solidFill>
            <a:srgbClr val="0A2230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603504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规格即权威：代码实现规格、验证对照规格</a:t>
            </a:r>
            <a:endParaRPr sz="105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382512" y="1810512"/>
            <a:ext cx="5486400" cy="4681728"/>
          </a:xfrm>
          <a:prstGeom prst="roundRect">
            <a:avLst>
              <a:gd name="adj" fmla="val 5000"/>
            </a:avLst>
          </a:prstGeom>
          <a:solidFill>
            <a:srgbClr val="0C241F"/>
          </a:solidFill>
          <a:ln w="12700">
            <a:solidFill>
              <a:srgbClr val="00FF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9202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aegis 真实 change：capability-driven-ai-platform</a:t>
            </a:r>
            <a:endParaRPr sz="105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83680" y="2267712"/>
            <a:ext cx="51206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240"/>
              </a:spcAft>
            </a:pPr>
            <a:r>
              <a:rPr sz="86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openspec/changes/</a:t>
            </a:r>
            <a:endParaRPr sz="86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spcAft>
                <a:spcPts val="240"/>
              </a:spcAft>
            </a:pPr>
            <a:r>
              <a:rPr sz="860" b="0" i="0">
                <a:solidFill>
                  <a:srgbClr val="8A97AD"/>
                </a:solidFill>
                <a:latin typeface="Consolas"/>
                <a:ea typeface="Consolas"/>
                <a:cs typeface="Consolas"/>
              </a:rPr>
              <a:t>  └ archive/2026-09-02-capability-driven-ai-platform/</a:t>
            </a:r>
            <a:endParaRPr sz="860" b="0" i="0">
              <a:solidFill>
                <a:srgbClr val="8A97AD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spcAft>
                <a:spcPts val="240"/>
              </a:spcAft>
            </a:pPr>
            <a:r>
              <a:rPr sz="86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      ├ proposal.md              为什么要做</a:t>
            </a:r>
            <a:endParaRPr sz="86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spcAft>
                <a:spcPts val="240"/>
              </a:spcAft>
            </a:pPr>
            <a:r>
              <a:rPr sz="860" b="0" i="0">
                <a:solidFill>
                  <a:srgbClr val="00FF9D"/>
                </a:solidFill>
                <a:latin typeface="Consolas"/>
                <a:ea typeface="Consolas"/>
                <a:cs typeface="Consolas"/>
              </a:rPr>
              <a:t>      ├ specs/capability-planner/spec.md      WHEN/THEN</a:t>
            </a:r>
            <a:endParaRPr sz="860" b="0" i="0">
              <a:solidFill>
                <a:srgbClr val="00FF9D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spcAft>
                <a:spcPts val="240"/>
              </a:spcAft>
            </a:pPr>
            <a:r>
              <a:rPr sz="860" b="0" i="0">
                <a:solidFill>
                  <a:srgbClr val="00FF9D"/>
                </a:solidFill>
                <a:latin typeface="Consolas"/>
                <a:ea typeface="Consolas"/>
                <a:cs typeface="Consolas"/>
              </a:rPr>
              <a:t>      ├ specs/capability-metadata/spec.md     能力元数据</a:t>
            </a:r>
            <a:endParaRPr sz="860" b="0" i="0">
              <a:solidFill>
                <a:srgbClr val="00FF9D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spcAft>
                <a:spcPts val="240"/>
              </a:spcAft>
            </a:pPr>
            <a:r>
              <a:rPr sz="860" b="0" i="0">
                <a:solidFill>
                  <a:srgbClr val="00FF9D"/>
                </a:solidFill>
                <a:latin typeface="Consolas"/>
                <a:ea typeface="Consolas"/>
                <a:cs typeface="Consolas"/>
              </a:rPr>
              <a:t>      ├ specs/capability-routing/spec.md      路由</a:t>
            </a:r>
            <a:endParaRPr sz="860" b="0" i="0">
              <a:solidFill>
                <a:srgbClr val="00FF9D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spcAft>
                <a:spcPts val="240"/>
              </a:spcAft>
            </a:pPr>
            <a:r>
              <a:rPr sz="86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      ├ design.md                6 模块技术方案</a:t>
            </a:r>
            <a:endParaRPr sz="86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spcAft>
                <a:spcPts val="240"/>
              </a:spcAft>
            </a:pPr>
            <a:r>
              <a:rPr sz="86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      └ tasks.md                 任务分解与勾选</a:t>
            </a:r>
            <a:endParaRPr sz="86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82512" y="5852160"/>
            <a:ext cx="5486400" cy="640080"/>
          </a:xfrm>
          <a:prstGeom prst="roundRect">
            <a:avLst>
              <a:gd name="adj" fmla="val 14000"/>
            </a:avLst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5852160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00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同一次变更：规格分多份、设计一件、任务一件——四件各司其职。</a:t>
            </a:r>
            <a:endParaRPr sz="100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5051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99811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9B6B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4570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9330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693408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03 · 怎么转·受控变更</a:t>
            </a:r>
            <a:endParaRPr sz="850" b="1" i="0">
              <a:solidFill>
                <a:srgbClr val="9B6B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How · OpenSpec   |   6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03 · HOW · 受控变更生命周期</a:t>
            </a:r>
            <a:endParaRPr sz="1150" b="1" i="0">
              <a:solidFill>
                <a:srgbClr val="9B6B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一次变更走一条主线，OpenSpec 是所有者，HEK 是治理外壳</a:t>
            </a:r>
            <a:endParaRPr sz="2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566928" y="1481328"/>
            <a:ext cx="1810512" cy="566928"/>
          </a:xfrm>
          <a:prstGeom prst="chevron">
            <a:avLst>
              <a:gd name="adj" fmla="val 30000"/>
            </a:avLst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2704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Explore</a:t>
            </a:r>
            <a:endParaRPr sz="125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2441447" y="1481328"/>
            <a:ext cx="1810512" cy="566928"/>
          </a:xfrm>
          <a:prstGeom prst="chevron">
            <a:avLst>
              <a:gd name="adj" fmla="val 30000"/>
            </a:avLst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6039" y="152704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Propose</a:t>
            </a:r>
            <a:endParaRPr sz="125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Chevron 16"/>
          <p:cNvSpPr/>
          <p:nvPr/>
        </p:nvSpPr>
        <p:spPr>
          <a:xfrm>
            <a:off x="4315966" y="1481328"/>
            <a:ext cx="1810512" cy="566928"/>
          </a:xfrm>
          <a:prstGeom prst="chevron">
            <a:avLst>
              <a:gd name="adj" fmla="val 30000"/>
            </a:avLst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8" y="152704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Apply</a:t>
            </a:r>
            <a:endParaRPr sz="125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Chevron 18"/>
          <p:cNvSpPr/>
          <p:nvPr/>
        </p:nvSpPr>
        <p:spPr>
          <a:xfrm>
            <a:off x="6190485" y="1481328"/>
            <a:ext cx="1810512" cy="566928"/>
          </a:xfrm>
          <a:prstGeom prst="chevron">
            <a:avLst>
              <a:gd name="adj" fmla="val 30000"/>
            </a:avLst>
          </a:prstGeom>
          <a:solidFill>
            <a:srgbClr val="FF3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77" y="152704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Verify</a:t>
            </a:r>
            <a:endParaRPr sz="125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Chevron 20"/>
          <p:cNvSpPr/>
          <p:nvPr/>
        </p:nvSpPr>
        <p:spPr>
          <a:xfrm>
            <a:off x="8065004" y="1481328"/>
            <a:ext cx="1810512" cy="566928"/>
          </a:xfrm>
          <a:prstGeom prst="chevron">
            <a:avLst>
              <a:gd name="adj" fmla="val 3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6" y="152704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Sync</a:t>
            </a:r>
            <a:endParaRPr sz="125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Chevron 22"/>
          <p:cNvSpPr/>
          <p:nvPr/>
        </p:nvSpPr>
        <p:spPr>
          <a:xfrm>
            <a:off x="9939523" y="1481328"/>
            <a:ext cx="1810512" cy="566928"/>
          </a:xfrm>
          <a:prstGeom prst="chevron">
            <a:avLst>
              <a:gd name="adj" fmla="val 30000"/>
            </a:avLst>
          </a:prstGeom>
          <a:solidFill>
            <a:srgbClr val="FF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04115" y="152704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Archive</a:t>
            </a:r>
            <a:endParaRPr sz="125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66928" y="2377440"/>
            <a:ext cx="128016" cy="566928"/>
          </a:xfrm>
          <a:prstGeom prst="rect">
            <a:avLst/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377440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Explore 探   </a:t>
            </a:r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读上下文 · RAM/D 先想清 · 提议 change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66928" y="3035808"/>
            <a:ext cx="128016" cy="566928"/>
          </a:xfrm>
          <a:prstGeom prst="rect">
            <a:avLst/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03580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Propose 提   </a:t>
            </a:r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写 proposal + spec + design，交给人批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66928" y="3694176"/>
            <a:ext cx="128016" cy="566928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3694176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Apply 做   </a:t>
            </a:r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按 tasks.md 逐任务实现，边做边留证据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66928" y="4352544"/>
            <a:ext cx="128016" cy="566928"/>
          </a:xfrm>
          <a:prstGeom prst="rect">
            <a:avLst/>
          </a:prstGeom>
          <a:solidFill>
            <a:srgbClr val="FF3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352544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FF3D8A"/>
                </a:solidFill>
                <a:latin typeface="微软雅黑"/>
                <a:ea typeface="微软雅黑"/>
                <a:cs typeface="微软雅黑"/>
              </a:rPr>
              <a:t>Verify 验   </a:t>
            </a:r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对照规格跑校验 / Fitness 门禁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66928" y="5010912"/>
            <a:ext cx="128016" cy="56692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01091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Sync 并   </a:t>
            </a:r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delta 验证通过 → 合回权威规格库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66928" y="5669280"/>
            <a:ext cx="128016" cy="566928"/>
          </a:xfrm>
          <a:prstGeom prst="rect">
            <a:avLst/>
          </a:prstGeom>
          <a:solidFill>
            <a:srgbClr val="FF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669280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FF5A5A"/>
                </a:solidFill>
                <a:latin typeface="微软雅黑"/>
                <a:ea typeface="微软雅黑"/>
                <a:cs typeface="微软雅黑"/>
              </a:rPr>
              <a:t>Archive 存   </a:t>
            </a:r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变更归档，结论沉淀为规则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0292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75051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99811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9B6B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24570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49330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693408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03 · 怎么转·受控变更</a:t>
            </a:r>
            <a:endParaRPr sz="850" b="1" i="0">
              <a:solidFill>
                <a:srgbClr val="9B6B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How · 生命周期   |   7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03 · HOW · 确定性上下文</a:t>
            </a:r>
            <a:endParaRPr sz="1150" b="1" i="0">
              <a:solidFill>
                <a:srgbClr val="9B6B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改代码前，先让 AI 知道自己“站在哪”</a:t>
            </a:r>
            <a:endParaRPr sz="2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316736"/>
            <a:ext cx="11064240" cy="402336"/>
          </a:xfrm>
          <a:prstGeom prst="roundRect">
            <a:avLst>
              <a:gd name="adj" fmla="val 14000"/>
            </a:avLst>
          </a:prstGeom>
          <a:solidFill>
            <a:srgbClr val="172038"/>
          </a:solidFill>
          <a:ln w="12700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316736"/>
            <a:ext cx="64008" cy="402336"/>
          </a:xfrm>
          <a:prstGeom prst="roundRect">
            <a:avLst>
              <a:gd name="adj" fmla="val 50000"/>
            </a:avLst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316736"/>
            <a:ext cx="106984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关键规则：上下文不靠全塞，而靠『机器索引 + 路径级精读』——只加载命中的那层。</a:t>
            </a:r>
            <a:endParaRPr sz="11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1810512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1920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怎么落地：路径级上下文（aegis 8 模块）</a:t>
            </a:r>
            <a:endParaRPr sz="1050" b="1" i="0">
              <a:solidFill>
                <a:srgbClr val="9B6B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6384" y="22860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03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根 ai.json（≤4096B）先做路径路由</a:t>
            </a:r>
            <a:endParaRPr sz="103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03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根 AI.md（全仓规则）</a:t>
            </a:r>
            <a:endParaRPr sz="103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03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aegis-core / AI.md（内核纯契约）</a:t>
            </a:r>
            <a:endParaRPr sz="103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03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aegis-runtime / AI.md（运行时）</a:t>
            </a:r>
            <a:endParaRPr sz="103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03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aegis-ai-spring / AI.md（模型适配）</a:t>
            </a:r>
            <a:endParaRPr sz="103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03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aegis-agent / AI.md（supervisor·log）</a:t>
            </a:r>
            <a:endParaRPr sz="103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03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aegis-channel / AI.md（渠道）</a:t>
            </a:r>
            <a:endParaRPr sz="103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03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aegis-application / AI.md（入口）</a:t>
            </a:r>
            <a:endParaRPr sz="103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" y="5943600"/>
            <a:ext cx="5029200" cy="512064"/>
          </a:xfrm>
          <a:prstGeom prst="roundRect">
            <a:avLst>
              <a:gd name="adj" fmla="val 14000"/>
            </a:avLst>
          </a:prstGeom>
          <a:solidFill>
            <a:srgbClr val="2A1D08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943600"/>
            <a:ext cx="46634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Fail-closed：缺任一层 → 拒绝开工</a:t>
            </a:r>
            <a:endParaRPr sz="105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52160" y="1810512"/>
            <a:ext cx="5760720" cy="4645152"/>
          </a:xfrm>
          <a:prstGeom prst="roundRect">
            <a:avLst>
              <a:gd name="adj" fmla="val 7000"/>
            </a:avLst>
          </a:prstGeom>
          <a:solidFill>
            <a:srgbClr val="0C241F"/>
          </a:solidFill>
          <a:ln w="12700">
            <a:solidFill>
              <a:srgbClr val="00FF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192024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每份 AI.md 主要回答五类问题（aegis-core 实样）</a:t>
            </a:r>
            <a:endParaRPr sz="110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53328" y="2286000"/>
            <a:ext cx="539496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50" b="1" i="0">
                <a:solidFill>
                  <a:srgbClr val="00FF9D"/>
                </a:solidFill>
                <a:latin typeface="Consolas"/>
                <a:ea typeface="Consolas"/>
                <a:cs typeface="Consolas"/>
              </a:rPr>
              <a:t>Scope</a:t>
            </a:r>
            <a:r>
              <a:rPr sz="10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  governs aegis-core —— 平台内核（纯 Java 契约）</a:t>
            </a:r>
            <a:endParaRPr sz="10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50" b="1" i="0">
                <a:solidFill>
                  <a:srgbClr val="00FF9D"/>
                </a:solidFill>
                <a:latin typeface="Consolas"/>
                <a:ea typeface="Consolas"/>
                <a:cs typeface="Consolas"/>
              </a:rPr>
              <a:t>Responsibilities</a:t>
            </a:r>
            <a:r>
              <a:rPr sz="10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  core/agent 契约 · core/routing 端口 · 单测</a:t>
            </a:r>
            <a:endParaRPr sz="10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50" b="1" i="0">
                <a:solidFill>
                  <a:srgbClr val="00FF9D"/>
                </a:solidFill>
                <a:latin typeface="Consolas"/>
                <a:ea typeface="Consolas"/>
                <a:cs typeface="Consolas"/>
              </a:rPr>
              <a:t>Boundaries</a:t>
            </a:r>
            <a:r>
              <a:rPr sz="10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  禁止 Spring/web/数据；只依赖 JDK</a:t>
            </a:r>
            <a:endParaRPr sz="10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50" b="1" i="0">
                <a:solidFill>
                  <a:srgbClr val="00FF9D"/>
                </a:solidFill>
                <a:latin typeface="Consolas"/>
                <a:ea typeface="Consolas"/>
                <a:cs typeface="Consolas"/>
              </a:rPr>
              <a:t>Verification</a:t>
            </a:r>
            <a:r>
              <a:rPr sz="10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  ./mvnw -pl aegis-core test</a:t>
            </a:r>
            <a:endParaRPr sz="10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50" b="1" i="0">
                <a:solidFill>
                  <a:srgbClr val="00FF9D"/>
                </a:solidFill>
                <a:latin typeface="Consolas"/>
                <a:ea typeface="Consolas"/>
                <a:cs typeface="Consolas"/>
              </a:rPr>
              <a:t>Navigation</a:t>
            </a:r>
            <a:r>
              <a:rPr sz="10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  入口点 · 关联契约 · Owner</a:t>
            </a:r>
            <a:endParaRPr sz="10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292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5051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9811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9B6B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4570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330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693408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03 · 怎么转·受控变更</a:t>
            </a:r>
            <a:endParaRPr sz="850" b="1" i="0">
              <a:solidFill>
                <a:srgbClr val="9B6B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How · 上下文   |   8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03 · HOW · 规格演进 Delta Specs</a:t>
            </a:r>
            <a:endParaRPr sz="1150" b="1" i="0">
              <a:solidFill>
                <a:srgbClr val="9B6B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权威库只被走完生命周期的变更更新</a:t>
            </a:r>
            <a:endParaRPr sz="2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316736"/>
            <a:ext cx="11064240" cy="402336"/>
          </a:xfrm>
          <a:prstGeom prst="roundRect">
            <a:avLst>
              <a:gd name="adj" fmla="val 14000"/>
            </a:avLst>
          </a:prstGeom>
          <a:solidFill>
            <a:srgbClr val="172038"/>
          </a:solidFill>
          <a:ln w="12700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316736"/>
            <a:ext cx="64008" cy="402336"/>
          </a:xfrm>
          <a:prstGeom prst="roundRect">
            <a:avLst>
              <a:gd name="adj" fmla="val 50000"/>
            </a:avLst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316736"/>
            <a:ext cx="106984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关键规则：权威 specs 永远描述『当前系统』；进行中的想法只活在 change 的增量里，合回才算数。</a:t>
            </a:r>
            <a:endParaRPr sz="11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1810512"/>
            <a:ext cx="5486400" cy="4160520"/>
          </a:xfrm>
          <a:prstGeom prst="roundRect">
            <a:avLst>
              <a:gd name="adj" fmla="val 4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19202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openspec/specs/ · 权威库（真实节选）</a:t>
            </a:r>
            <a:endParaRPr sz="1050" b="1" i="0">
              <a:solidFill>
                <a:srgbClr val="9B6B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6384" y="2286000"/>
            <a:ext cx="512064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240"/>
              </a:spcAft>
            </a:pPr>
            <a:r>
              <a:rPr sz="87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feishu-card-streaming / feishu-channel / website-channel</a:t>
            </a:r>
            <a:endParaRPr sz="87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spcAft>
                <a:spcPts val="240"/>
              </a:spcAft>
            </a:pPr>
            <a:r>
              <a:rPr sz="87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feishu-streaming-interaction / session-management</a:t>
            </a:r>
            <a:endParaRPr sz="87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spcAft>
                <a:spcPts val="240"/>
              </a:spcAft>
            </a:pPr>
            <a:r>
              <a:rPr sz="87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agent-runtime / agent-routing / multi-agent</a:t>
            </a:r>
            <a:endParaRPr sz="87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spcAft>
                <a:spcPts val="240"/>
              </a:spcAft>
            </a:pPr>
            <a:r>
              <a:rPr sz="87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capability-planner / capability-metadata / capability-routing</a:t>
            </a:r>
            <a:endParaRPr sz="87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spcAft>
                <a:spcPts val="240"/>
              </a:spcAft>
            </a:pPr>
            <a:r>
              <a:rPr sz="87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capability-observability / log-analysis / log-analysis-closed-loop</a:t>
            </a:r>
            <a:endParaRPr sz="87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spcAft>
                <a:spcPts val="240"/>
              </a:spcAft>
            </a:pPr>
            <a:r>
              <a:rPr sz="87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cls-log-fetch / model-context-window / log-payload-boundary</a:t>
            </a:r>
            <a:endParaRPr sz="87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spcAft>
                <a:spcPts val="240"/>
              </a:spcAft>
            </a:pPr>
            <a:r>
              <a:rPr sz="87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model-provider / model-rate-limit / model-context-window</a:t>
            </a:r>
            <a:endParaRPr sz="87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spcAft>
                <a:spcPts val="240"/>
              </a:spcAft>
            </a:pPr>
            <a:r>
              <a:rPr sz="87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skill-declarative-loading / skill-runtime / tool-runtime</a:t>
            </a:r>
            <a:endParaRPr sz="87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spcAft>
                <a:spcPts val="240"/>
              </a:spcAft>
            </a:pPr>
            <a:r>
              <a:rPr sz="87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intent-classification / code-location / task-orchestration</a:t>
            </a:r>
            <a:endParaRPr sz="87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spcAft>
                <a:spcPts val="240"/>
              </a:spcAft>
            </a:pPr>
          </a:p>
          <a:p>
            <a:pPr>
              <a:lnSpc>
                <a:spcPct val="100000"/>
              </a:lnSpc>
              <a:spcAft>
                <a:spcPts val="240"/>
              </a:spcAft>
            </a:pPr>
            <a:r>
              <a:rPr sz="870" b="0" i="0">
                <a:solidFill>
                  <a:srgbClr val="8A97AD"/>
                </a:solidFill>
                <a:latin typeface="Consolas"/>
                <a:ea typeface="Consolas"/>
                <a:cs typeface="Consolas"/>
              </a:rPr>
              <a:t>每一份都对应一次走完生命周期的变更，没有半截规格。</a:t>
            </a:r>
            <a:endParaRPr sz="870" b="0" i="0">
              <a:solidFill>
                <a:srgbClr val="8A97AD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309360" y="1810512"/>
            <a:ext cx="5303520" cy="4160520"/>
          </a:xfrm>
          <a:prstGeom prst="roundRect">
            <a:avLst>
              <a:gd name="adj" fmla="val 7000"/>
            </a:avLst>
          </a:prstGeom>
          <a:solidFill>
            <a:srgbClr val="0C241F"/>
          </a:solidFill>
          <a:ln w="12700">
            <a:solidFill>
              <a:srgbClr val="00FF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192024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权威库怎么‘长’出来（change → 合回）</a:t>
            </a:r>
            <a:endParaRPr sz="110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10528" y="2286000"/>
            <a:ext cx="493776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250"/>
              </a:spcAft>
            </a:pPr>
            <a:r>
              <a:rPr sz="950" b="1" i="0">
                <a:solidFill>
                  <a:srgbClr val="00D9FF"/>
                </a:solidFill>
                <a:latin typeface="Consolas"/>
                <a:ea typeface="Consolas"/>
                <a:cs typeface="Consolas"/>
              </a:rPr>
              <a:t>log-analysis-closed-loop</a:t>
            </a:r>
            <a:endParaRPr sz="950" b="1" i="0">
              <a:solidFill>
                <a:srgbClr val="00D9FF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900" b="0" i="0">
                <a:solidFill>
                  <a:srgbClr val="00FF9D"/>
                </a:solidFill>
                <a:latin typeface="Consolas"/>
                <a:ea typeface="Consolas"/>
                <a:cs typeface="Consolas"/>
              </a:rPr>
              <a:t>   → log-analysis-closed-loop / spec.md</a:t>
            </a:r>
            <a:endParaRPr sz="900" b="0" i="0">
              <a:solidFill>
                <a:srgbClr val="00FF9D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90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   闭环从草案变权威</a:t>
            </a:r>
            <a:endParaRPr sz="90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6000"/>
              </a:lnSpc>
              <a:spcAft>
                <a:spcPts val="250"/>
              </a:spcAft>
            </a:pPr>
            <a:r>
              <a:rPr sz="950" b="1" i="0">
                <a:solidFill>
                  <a:srgbClr val="00D9FF"/>
                </a:solidFill>
                <a:latin typeface="Consolas"/>
                <a:ea typeface="Consolas"/>
                <a:cs typeface="Consolas"/>
              </a:rPr>
              <a:t>capability-driven-ai-platform</a:t>
            </a:r>
            <a:endParaRPr sz="950" b="1" i="0">
              <a:solidFill>
                <a:srgbClr val="00D9FF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900" b="0" i="0">
                <a:solidFill>
                  <a:srgbClr val="00FF9D"/>
                </a:solidFill>
                <a:latin typeface="Consolas"/>
                <a:ea typeface="Consolas"/>
                <a:cs typeface="Consolas"/>
              </a:rPr>
              <a:t>   → capability-* ×4 / spec.md</a:t>
            </a:r>
            <a:endParaRPr sz="900" b="0" i="0">
              <a:solidFill>
                <a:srgbClr val="00FF9D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90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   一次变更长出一组</a:t>
            </a:r>
            <a:endParaRPr sz="90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6000"/>
              </a:lnSpc>
              <a:spcAft>
                <a:spcPts val="250"/>
              </a:spcAft>
            </a:pPr>
            <a:r>
              <a:rPr sz="950" b="1" i="0">
                <a:solidFill>
                  <a:srgbClr val="00D9FF"/>
                </a:solidFill>
                <a:latin typeface="Consolas"/>
                <a:ea typeface="Consolas"/>
                <a:cs typeface="Consolas"/>
              </a:rPr>
              <a:t>intent-classification-model</a:t>
            </a:r>
            <a:endParaRPr sz="950" b="1" i="0">
              <a:solidFill>
                <a:srgbClr val="00D9FF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900" b="0" i="0">
                <a:solidFill>
                  <a:srgbClr val="00FF9D"/>
                </a:solidFill>
                <a:latin typeface="Consolas"/>
                <a:ea typeface="Consolas"/>
                <a:cs typeface="Consolas"/>
              </a:rPr>
              <a:t>   → intent-classification / spec.md</a:t>
            </a:r>
            <a:endParaRPr sz="900" b="0" i="0">
              <a:solidFill>
                <a:srgbClr val="00FF9D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90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   分类规则进入权威规格</a:t>
            </a:r>
            <a:endParaRPr sz="90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6000"/>
              </a:lnSpc>
              <a:spcAft>
                <a:spcPts val="250"/>
              </a:spcAft>
            </a:pPr>
            <a:r>
              <a:rPr sz="950" b="1" i="0">
                <a:solidFill>
                  <a:srgbClr val="00D9FF"/>
                </a:solidFill>
                <a:latin typeface="Consolas"/>
                <a:ea typeface="Consolas"/>
                <a:cs typeface="Consolas"/>
              </a:rPr>
              <a:t>website-channel</a:t>
            </a:r>
            <a:endParaRPr sz="950" b="1" i="0">
              <a:solidFill>
                <a:srgbClr val="00D9FF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900" b="0" i="0">
                <a:solidFill>
                  <a:srgbClr val="00FF9D"/>
                </a:solidFill>
                <a:latin typeface="Consolas"/>
                <a:ea typeface="Consolas"/>
                <a:cs typeface="Consolas"/>
              </a:rPr>
              <a:t>   → website-channel / spec.md</a:t>
            </a:r>
            <a:endParaRPr sz="900" b="0" i="0">
              <a:solidFill>
                <a:srgbClr val="00FF9D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90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   新渠道接入即入权威</a:t>
            </a:r>
            <a:endParaRPr sz="90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75051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99811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9B6B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4570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9330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693408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03 · 怎么转·受控变更</a:t>
            </a:r>
            <a:endParaRPr sz="850" b="1" i="0">
              <a:solidFill>
                <a:srgbClr val="9B6B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How · 规格演进   |   9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03 · HOW · 治理与门禁</a:t>
            </a:r>
            <a:endParaRPr sz="1150" b="1" i="0">
              <a:solidFill>
                <a:srgbClr val="9B6B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放行前要人批，批完才授权写码，完成 = 门禁 + 证据</a:t>
            </a:r>
            <a:endParaRPr sz="2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316736"/>
            <a:ext cx="11064240" cy="402336"/>
          </a:xfrm>
          <a:prstGeom prst="roundRect">
            <a:avLst>
              <a:gd name="adj" fmla="val 14000"/>
            </a:avLst>
          </a:prstGeom>
          <a:solidFill>
            <a:srgbClr val="172038"/>
          </a:solidFill>
          <a:ln w="12700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316736"/>
            <a:ext cx="64008" cy="402336"/>
          </a:xfrm>
          <a:prstGeom prst="roundRect">
            <a:avLst>
              <a:gd name="adj" fmla="val 50000"/>
            </a:avLst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316736"/>
            <a:ext cx="106984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关键规则：design.md 是给人确认的方案包——架构·职责·时序·接口·波次·风险，批前一行实现都不写。</a:t>
            </a:r>
            <a:endParaRPr sz="11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1810512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19202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Design 门禁三步</a:t>
            </a:r>
            <a:endParaRPr sz="1100" b="1" i="0">
              <a:solidFill>
                <a:srgbClr val="9B6BF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① 结构校验：proposal/spec/design/tasks 齐备、schema 合法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② 开发者确认：把方案 + 边界 + 波次 + 风险呈现出来请求确认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7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③ 审批绑定：外部审批记录 + 契约摘要 → Apply 才被授权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66928" y="4261104"/>
            <a:ext cx="5486400" cy="2011680"/>
          </a:xfrm>
          <a:prstGeom prst="roundRect">
            <a:avLst>
              <a:gd name="adj" fmla="val 7000"/>
            </a:avLst>
          </a:prstGeom>
          <a:solidFill>
            <a:srgbClr val="0C241F"/>
          </a:solidFill>
          <a:ln w="12700">
            <a:solidFill>
              <a:srgbClr val="00FF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370832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Apply 与证据</a:t>
            </a:r>
            <a:endParaRPr sz="110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650"/>
              </a:spcBef>
            </a:pPr>
            <a:r>
              <a:rPr sz="11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tasks.md 是唯一任务源，勾选必须对应一次成功执行</a:t>
            </a:r>
            <a:endParaRPr sz="11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650"/>
              </a:spcBef>
            </a:pPr>
            <a:r>
              <a:rPr sz="11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证据写回 execution-evidence.json，全文可审计</a:t>
            </a:r>
            <a:endParaRPr sz="11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650"/>
              </a:spcBef>
            </a:pPr>
            <a:r>
              <a:rPr sz="11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『代码生成了』≠『做完了』——门禁通过才算</a:t>
            </a:r>
            <a:endParaRPr sz="11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09360" y="1810512"/>
            <a:ext cx="5303520" cy="4462272"/>
          </a:xfrm>
          <a:prstGeom prst="roundRect">
            <a:avLst>
              <a:gd name="adj" fmla="val 6000"/>
            </a:avLst>
          </a:prstGeom>
          <a:solidFill>
            <a:srgbClr val="2A1D08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192024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如果跳过门禁直接写码</a:t>
            </a:r>
            <a:endParaRPr sz="110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000"/>
              </a:lnSpc>
              <a:spcBef>
                <a:spcPts val="600"/>
              </a:spcBef>
            </a:pPr>
            <a:r>
              <a:rPr sz="11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✕ 能力写哪、边界交给谁——边写边拍脑袋</a:t>
            </a:r>
            <a:endParaRPr sz="11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000"/>
              </a:lnSpc>
              <a:spcBef>
                <a:spcPts val="600"/>
              </a:spcBef>
            </a:pPr>
            <a:r>
              <a:rPr sz="11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✕ Spec/Design 一变，原审批悄悄失效无人知</a:t>
            </a:r>
            <a:endParaRPr sz="11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000"/>
              </a:lnSpc>
              <a:spcBef>
                <a:spcPts val="600"/>
              </a:spcBef>
            </a:pPr>
            <a:r>
              <a:rPr sz="11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✕ 『批过=永远有效』：架构漂移没被拦，越走越失控</a:t>
            </a:r>
            <a:endParaRPr sz="11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000"/>
              </a:lnSpc>
              <a:spcBef>
                <a:spcPts val="600"/>
              </a:spcBef>
            </a:pPr>
            <a:r>
              <a:rPr sz="11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✕ 多模块并行没有统一契约，各写各的不正交</a:t>
            </a:r>
            <a:endParaRPr sz="11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000"/>
              </a:lnSpc>
              <a:spcBef>
                <a:spcPts val="600"/>
              </a:spcBef>
            </a:pPr>
            <a:r>
              <a:rPr sz="11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✕ 没有波次与回滚，出问题只能整体回退</a:t>
            </a:r>
            <a:endParaRPr sz="11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75051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99811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9B6B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4570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9330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693408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03 · 怎么转·受控变更</a:t>
            </a:r>
            <a:endParaRPr sz="850" b="1" i="0">
              <a:solidFill>
                <a:srgbClr val="9B6B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How · 治理   |   10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03 · HOW · 先想清再写 RAM/D</a:t>
            </a:r>
            <a:endParaRPr sz="1150" b="1" i="0">
              <a:solidFill>
                <a:srgbClr val="9B6B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写码最大的风险：代码能跑，但悄悄打破系统边界</a:t>
            </a:r>
            <a:endParaRPr sz="2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316736"/>
            <a:ext cx="11064240" cy="402336"/>
          </a:xfrm>
          <a:prstGeom prst="roundRect">
            <a:avLst>
              <a:gd name="adj" fmla="val 14000"/>
            </a:avLst>
          </a:prstGeom>
          <a:solidFill>
            <a:srgbClr val="172038"/>
          </a:solidFill>
          <a:ln w="12700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316736"/>
            <a:ext cx="64008" cy="402336"/>
          </a:xfrm>
          <a:prstGeom prst="roundRect">
            <a:avLst>
              <a:gd name="adj" fmla="val 50000"/>
            </a:avLst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316736"/>
            <a:ext cx="106984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关键规则：RAM/D 就是四步——Read 读懂边界，Analyze 想清依赖，Model/Decompose 先出契约，再放行写实现。</a:t>
            </a:r>
            <a:endParaRPr sz="11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22960" y="1975104"/>
            <a:ext cx="365760" cy="365760"/>
          </a:xfrm>
          <a:prstGeom prst="ellipse">
            <a:avLst/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9751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25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98448" y="1828800"/>
            <a:ext cx="519379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Read 读</a:t>
            </a:r>
            <a:r>
              <a:rPr sz="110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   读上下文/边界/依赖方向，先知道站在哪</a:t>
            </a:r>
            <a:endParaRPr sz="110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22960" y="2761488"/>
            <a:ext cx="365760" cy="365760"/>
          </a:xfrm>
          <a:prstGeom prst="ellipse">
            <a:avLst/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7614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25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98448" y="2615184"/>
            <a:ext cx="519379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Analyze 析</a:t>
            </a:r>
            <a:r>
              <a:rPr sz="110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   把需求拆成职责，想清数据与调用关系</a:t>
            </a:r>
            <a:endParaRPr sz="110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22960" y="3547872"/>
            <a:ext cx="365760" cy="365760"/>
          </a:xfrm>
          <a:prstGeom prst="ellipse">
            <a:avLst/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5478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25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98448" y="3401568"/>
            <a:ext cx="519379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Model 建模（后端）</a:t>
            </a:r>
            <a:r>
              <a:rPr sz="110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   产出接口契约/抽象，审批后才放行实现</a:t>
            </a:r>
            <a:endParaRPr sz="110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822960" y="4334256"/>
            <a:ext cx="365760" cy="365760"/>
          </a:xfrm>
          <a:prstGeom prst="ellipse">
            <a:avLst/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33425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25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98448" y="4187952"/>
            <a:ext cx="519379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Decompose 分解（前端）</a:t>
            </a:r>
            <a:r>
              <a:rPr sz="110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   产出类型与组件结构，再放行实现</a:t>
            </a:r>
            <a:endParaRPr sz="110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720840" y="1828800"/>
            <a:ext cx="4892040" cy="4206240"/>
          </a:xfrm>
          <a:prstGeom prst="roundRect">
            <a:avLst>
              <a:gd name="adj" fmla="val 6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196596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对照：直接生成 vs RAM/D 先想清</a:t>
            </a:r>
            <a:endParaRPr sz="115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sz="1200" b="1" i="0">
                <a:solidFill>
                  <a:srgbClr val="FF5A5A"/>
                </a:solidFill>
                <a:latin typeface="微软雅黑"/>
                <a:ea typeface="微软雅黑"/>
                <a:cs typeface="微软雅黑"/>
              </a:rPr>
              <a:t>✕ 直接生成：边写边拍脑袋，边界值何时算</a:t>
            </a:r>
            <a:endParaRPr sz="1200" b="1" i="0">
              <a:solidFill>
                <a:srgbClr val="FF5A5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sz="12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✔ 先 RAM/D：契约先行，风险在写码前就暴露</a:t>
            </a:r>
            <a:endParaRPr sz="120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720840" y="5852160"/>
            <a:ext cx="4892040" cy="603504"/>
          </a:xfrm>
          <a:prstGeom prst="roundRect">
            <a:avLst>
              <a:gd name="adj" fmla="val 14000"/>
            </a:avLst>
          </a:prstGeom>
          <a:solidFill>
            <a:srgbClr val="172038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31152" y="5852160"/>
            <a:ext cx="45720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0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RAM/D 可视为每次动手前 2 分钟的心智检查，无需扩展成流程文档。</a:t>
            </a:r>
            <a:endParaRPr sz="100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75051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99811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9B6B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24570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9330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693408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03 · 怎么转·受控变更</a:t>
            </a:r>
            <a:endParaRPr sz="850" b="1" i="0">
              <a:solidFill>
                <a:srgbClr val="9B6B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How · RAM/D   |   11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FF3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FF3D8A"/>
                </a:solidFill>
                <a:latin typeface="微软雅黑"/>
                <a:ea typeface="微软雅黑"/>
                <a:cs typeface="微软雅黑"/>
              </a:rPr>
              <a:t>04 · GROW · 反哺成门禁与经验</a:t>
            </a:r>
            <a:endParaRPr sz="1150" b="1" i="0">
              <a:solidFill>
                <a:srgbClr val="FF3D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错误不是一次性的，要变成下一次的规则</a:t>
            </a:r>
            <a:endParaRPr sz="2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FF3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316736"/>
            <a:ext cx="11064240" cy="402336"/>
          </a:xfrm>
          <a:prstGeom prst="roundRect">
            <a:avLst>
              <a:gd name="adj" fmla="val 14000"/>
            </a:avLst>
          </a:prstGeom>
          <a:solidFill>
            <a:srgbClr val="172038"/>
          </a:solidFill>
          <a:ln w="12700">
            <a:solidFill>
              <a:srgbClr val="FF3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316736"/>
            <a:ext cx="64008" cy="402336"/>
          </a:xfrm>
          <a:prstGeom prst="roundRect">
            <a:avLst>
              <a:gd name="adj" fmla="val 50000"/>
            </a:avLst>
          </a:prstGeom>
          <a:solidFill>
            <a:srgbClr val="FF3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316736"/>
            <a:ext cx="106984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 i="0">
                <a:solidFill>
                  <a:srgbClr val="FF3D8A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关键规则：反哺是一条闭环——Self-Refine 先自查，经验记忆累积『反复失败』，Fitness 把教训固化成硬门禁。</a:t>
            </a:r>
            <a:endParaRPr sz="11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1810512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19202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FF3D8A"/>
                </a:solidFill>
                <a:latin typeface="微软雅黑"/>
                <a:ea typeface="微软雅黑"/>
                <a:cs typeface="微软雅黑"/>
              </a:rPr>
              <a:t>① Self-Refine：有界的内层自检</a:t>
            </a:r>
            <a:endParaRPr sz="1100" b="1" i="0">
              <a:solidFill>
                <a:srgbClr val="FF3D8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000"/>
              </a:lnSpc>
              <a:spcBef>
                <a:spcPts val="550"/>
              </a:spcBef>
            </a:pPr>
            <a:r>
              <a:rPr sz="106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生成 → 模型批判 → 优化 → 再检查</a:t>
            </a:r>
            <a:endParaRPr sz="106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000"/>
              </a:lnSpc>
              <a:spcBef>
                <a:spcPts val="550"/>
              </a:spcBef>
            </a:pPr>
            <a:r>
              <a:rPr sz="106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环心有界闭环（≤ max_iterations）</a:t>
            </a:r>
            <a:endParaRPr sz="106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000"/>
              </a:lnSpc>
              <a:spcBef>
                <a:spcPts val="550"/>
              </a:spcBef>
            </a:pPr>
            <a:r>
              <a:rPr sz="106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每轮对照已批需求与风险标准，记录具体修改</a:t>
            </a:r>
            <a:endParaRPr sz="106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66928" y="3950208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059936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FF3D8A"/>
                </a:solidFill>
                <a:latin typeface="微软雅黑"/>
                <a:ea typeface="微软雅黑"/>
                <a:cs typeface="微软雅黑"/>
              </a:rPr>
              <a:t>② 经验记忆 · ③ Fitness 门禁</a:t>
            </a:r>
            <a:endParaRPr sz="1100" b="1" i="0">
              <a:solidFill>
                <a:srgbClr val="FF3D8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000"/>
              </a:lnSpc>
              <a:spcBef>
                <a:spcPts val="550"/>
              </a:spcBef>
            </a:pPr>
            <a:r>
              <a:rPr sz="106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经验记忆：把跨变更『反复失败』沉淀为可检索的预防</a:t>
            </a:r>
            <a:endParaRPr sz="106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000"/>
              </a:lnSpc>
              <a:spcBef>
                <a:spcPts val="550"/>
              </a:spcBef>
            </a:pPr>
            <a:r>
              <a:rPr sz="106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Fitness：把『什么时候算做完』编码成可执行规则</a:t>
            </a:r>
            <a:endParaRPr sz="106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000"/>
              </a:lnSpc>
              <a:spcBef>
                <a:spcPts val="550"/>
              </a:spcBef>
            </a:pPr>
            <a:r>
              <a:rPr sz="106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验证通过的经验 → 升级成 Fitness 硬门禁（docs/fitness/）</a:t>
            </a:r>
            <a:endParaRPr sz="106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09360" y="1810512"/>
            <a:ext cx="5303520" cy="4471416"/>
          </a:xfrm>
          <a:prstGeom prst="roundRect">
            <a:avLst>
              <a:gd name="adj" fmla="val 7000"/>
            </a:avLst>
          </a:prstGeom>
          <a:solidFill>
            <a:srgbClr val="0C241F"/>
          </a:solidFill>
          <a:ln w="12700">
            <a:solidFill>
              <a:srgbClr val="00FF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192024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aegis 真实的 失败→修复→预防</a:t>
            </a:r>
            <a:endParaRPr sz="110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10528" y="2286000"/>
            <a:ext cx="49377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50"/>
              </a:spcAft>
            </a:pPr>
            <a:r>
              <a:rPr sz="100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失败事件 → </a:t>
            </a:r>
            <a:r>
              <a:rPr sz="10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token 超预算 / 上下文超窗</a:t>
            </a:r>
            <a:endParaRPr sz="10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5000"/>
              </a:lnSpc>
            </a:pPr>
            <a:r>
              <a:rPr sz="1000" b="1" i="0">
                <a:solidFill>
                  <a:srgbClr val="FF3D8A"/>
                </a:solidFill>
                <a:latin typeface="微软雅黑"/>
                <a:ea typeface="微软雅黑"/>
                <a:cs typeface="微软雅黑"/>
              </a:rPr>
              <a:t>修复变更 → </a:t>
            </a:r>
            <a:r>
              <a:rPr sz="100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model-token-budget-gate + model-context-window</a:t>
            </a:r>
            <a:endParaRPr sz="100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0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升级预防 → </a:t>
            </a:r>
            <a:r>
              <a:rPr sz="10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限流排队或裁剪，保留降级路径</a:t>
            </a:r>
            <a:endParaRPr sz="10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5000"/>
              </a:lnSpc>
              <a:spcAft>
                <a:spcPts val="250"/>
              </a:spcAft>
            </a:pPr>
            <a:r>
              <a:rPr sz="100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失败事件 → </a:t>
            </a:r>
            <a:r>
              <a:rPr sz="10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日志负载太大拖垮分析</a:t>
            </a:r>
            <a:endParaRPr sz="10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5000"/>
              </a:lnSpc>
            </a:pPr>
            <a:r>
              <a:rPr sz="1000" b="1" i="0">
                <a:solidFill>
                  <a:srgbClr val="FF3D8A"/>
                </a:solidFill>
                <a:latin typeface="微软雅黑"/>
                <a:ea typeface="微软雅黑"/>
                <a:cs typeface="微软雅黑"/>
              </a:rPr>
              <a:t>修复变更 → </a:t>
            </a:r>
            <a:r>
              <a:rPr sz="100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log-payload-boundary-capping</a:t>
            </a:r>
            <a:endParaRPr sz="100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0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升级预防 → </a:t>
            </a:r>
            <a:r>
              <a:rPr sz="10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按规则降采样并保留关键事件</a:t>
            </a:r>
            <a:endParaRPr sz="10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5000"/>
              </a:lnSpc>
              <a:spcAft>
                <a:spcPts val="250"/>
              </a:spcAft>
            </a:pPr>
            <a:r>
              <a:rPr sz="100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失败事件 → </a:t>
            </a:r>
            <a:r>
              <a:rPr sz="10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代码查询不问人、误读</a:t>
            </a:r>
            <a:endParaRPr sz="10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5000"/>
              </a:lnSpc>
            </a:pPr>
            <a:r>
              <a:rPr sz="1000" b="1" i="0">
                <a:solidFill>
                  <a:srgbClr val="FF3D8A"/>
                </a:solidFill>
                <a:latin typeface="微软雅黑"/>
                <a:ea typeface="微软雅黑"/>
                <a:cs typeface="微软雅黑"/>
              </a:rPr>
              <a:t>修复变更 → </a:t>
            </a:r>
            <a:r>
              <a:rPr sz="1000" b="0" i="0">
                <a:solidFill>
                  <a:srgbClr val="E8EEF8"/>
                </a:solidFill>
                <a:latin typeface="Consolas"/>
                <a:ea typeface="Consolas"/>
                <a:cs typeface="Consolas"/>
              </a:rPr>
              <a:t>code-query-human-confirmation</a:t>
            </a:r>
            <a:endParaRPr sz="1000" b="0" i="0">
              <a:solidFill>
                <a:srgbClr val="E8EEF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0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升级预防 → </a:t>
            </a:r>
            <a:r>
              <a:rPr sz="10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Read 阶段人工确认成护栏</a:t>
            </a:r>
            <a:endParaRPr sz="10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292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5051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9811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4570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FF3D8A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9330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693408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FF3D8A"/>
                </a:solidFill>
                <a:latin typeface="微软雅黑"/>
                <a:ea typeface="微软雅黑"/>
                <a:cs typeface="微软雅黑"/>
              </a:rPr>
              <a:t>04 · 怎么长·反哺</a:t>
            </a:r>
            <a:endParaRPr sz="850" b="1" i="0">
              <a:solidFill>
                <a:srgbClr val="FF3D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Grow·反哺   |   12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05 · USE · 怎么接入</a:t>
            </a:r>
            <a:endParaRPr sz="115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四步把 HEK 装进项目，先跑通再加深</a:t>
            </a:r>
            <a:endParaRPr sz="2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316736"/>
            <a:ext cx="11064240" cy="402336"/>
          </a:xfrm>
          <a:prstGeom prst="roundRect">
            <a:avLst>
              <a:gd name="adj" fmla="val 14000"/>
            </a:avLst>
          </a:prstGeom>
          <a:solidFill>
            <a:srgbClr val="172038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316736"/>
            <a:ext cx="64008" cy="402336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316736"/>
            <a:ext cx="106984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关键规则：接入的本质，是把上下文路由、变更流程和验收标准写成仓库契约。</a:t>
            </a:r>
            <a:endParaRPr sz="11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365760" cy="36576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011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25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98448" y="1828800"/>
            <a:ext cx="537667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引入</a:t>
            </a:r>
            <a:r>
              <a:rPr sz="110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   在目标仓库放好自带的地图与规则（CLAUDE.md / agent-policy.yaml / AI.md）</a:t>
            </a:r>
            <a:endParaRPr sz="110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22960" y="2889504"/>
            <a:ext cx="365760" cy="36576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8895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25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98448" y="2706624"/>
            <a:ext cx="537667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初始化</a:t>
            </a:r>
            <a:r>
              <a:rPr sz="110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   Agent 驱动地生成框架骨架：OpenSpec 区 + 治理区 + 上下文区</a:t>
            </a:r>
            <a:endParaRPr sz="110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22960" y="3767328"/>
            <a:ext cx="365760" cy="36576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76732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25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98448" y="3584448"/>
            <a:ext cx="537667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定档</a:t>
            </a:r>
            <a:r>
              <a:rPr sz="110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   选 Tier / 档位：低风险局部改动走 light，关键路径走完整门禁</a:t>
            </a:r>
            <a:endParaRPr sz="110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822960" y="4645152"/>
            <a:ext cx="365760" cy="36576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6451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060A14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250" b="1" i="0">
              <a:solidFill>
                <a:srgbClr val="060A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98448" y="4462272"/>
            <a:ext cx="537667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验收</a:t>
            </a:r>
            <a:r>
              <a:rPr sz="110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   跑一次代表性变更，确认产物、门禁与证据链能闭合</a:t>
            </a:r>
            <a:endParaRPr sz="110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949440" y="1828800"/>
            <a:ext cx="4663440" cy="4297680"/>
          </a:xfrm>
          <a:prstGeom prst="roundRect">
            <a:avLst>
              <a:gd name="adj" fmla="val 7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196596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框架生效后可观察到</a:t>
            </a:r>
            <a:endParaRPr sz="115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每次改代码前，AI 先读 AI.md / 边界，不再瞎猜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发起变更，自动产出 proposal·spec·design·tasks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放行前有人点确认，成功后留证据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多余的深度可裁减：方法论是默认值，不是强制清单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949440" y="5852160"/>
            <a:ext cx="4663440" cy="603504"/>
          </a:xfrm>
          <a:prstGeom prst="roundRect">
            <a:avLst>
              <a:gd name="adj" fmla="val 14000"/>
            </a:avLst>
          </a:prstGeom>
          <a:solidFill>
            <a:srgbClr val="2A1D08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68896" y="5852160"/>
            <a:ext cx="4297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先跑通，再往深里加门禁——别一上来就上满配置。</a:t>
            </a:r>
            <a:endParaRPr sz="105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75051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99811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24570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9330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FFB02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693408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05 · 怎么用·落地</a:t>
            </a:r>
            <a:endParaRPr sz="85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Use·接入   |   13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05 · USE · 一次改动怎么走</a:t>
            </a:r>
            <a:endParaRPr sz="115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一次任务沿这条线执行，过程不易失序</a:t>
            </a:r>
            <a:endParaRPr sz="2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316736"/>
            <a:ext cx="11064240" cy="402336"/>
          </a:xfrm>
          <a:prstGeom prst="roundRect">
            <a:avLst>
              <a:gd name="adj" fmla="val 14000"/>
            </a:avLst>
          </a:prstGeom>
          <a:solidFill>
            <a:srgbClr val="172038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316736"/>
            <a:ext cx="64008" cy="402336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316736"/>
            <a:ext cx="106984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核心判断：大多数改动沿同一条脊柱执行——读→立规格→批→做→验→存。</a:t>
            </a:r>
            <a:endParaRPr sz="11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2960" y="1828800"/>
            <a:ext cx="109728" cy="548640"/>
          </a:xfrm>
          <a:prstGeom prst="rect">
            <a:avLst/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182880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① 接任务</a:t>
            </a:r>
            <a:endParaRPr sz="130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800" y="18288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Read + RAM/D：读边界，想清方案再动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2960" y="2487168"/>
            <a:ext cx="109728" cy="548640"/>
          </a:xfrm>
          <a:prstGeom prst="rect">
            <a:avLst/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2487168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② 开 change</a:t>
            </a:r>
            <a:endParaRPr sz="130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14800" y="248716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openspec/changes/&lt;change-id&gt;/ 起草 proposal + spec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22960" y="3145536"/>
            <a:ext cx="109728" cy="54864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3145536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9B6BFF"/>
                </a:solidFill>
                <a:latin typeface="微软雅黑"/>
                <a:ea typeface="微软雅黑"/>
                <a:cs typeface="微软雅黑"/>
              </a:rPr>
              <a:t>③ 等人批</a:t>
            </a:r>
            <a:endParaRPr sz="1300" b="1" i="0">
              <a:solidFill>
                <a:srgbClr val="9B6B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114800" y="3145536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design 方案找人确认，批过才被授权写码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22960" y="3803904"/>
            <a:ext cx="109728" cy="548640"/>
          </a:xfrm>
          <a:prstGeom prst="rect">
            <a:avLst/>
          </a:prstGeom>
          <a:solidFill>
            <a:srgbClr val="FF3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3803904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FF3D8A"/>
                </a:solidFill>
                <a:latin typeface="微软雅黑"/>
                <a:ea typeface="微软雅黑"/>
                <a:cs typeface="微软雅黑"/>
              </a:rPr>
              <a:t>④ 按任务做</a:t>
            </a:r>
            <a:endParaRPr sz="1300" b="1" i="0">
              <a:solidFill>
                <a:srgbClr val="FF3D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14800" y="38039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tasks.md 逐条勾，每条成功执行留证据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22960" y="4462272"/>
            <a:ext cx="109728" cy="5486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4462272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⑤ 验证</a:t>
            </a:r>
            <a:endParaRPr sz="130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114800" y="4462272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Fitness 门禁 + 对照规格，过了才算完成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22960" y="5120640"/>
            <a:ext cx="109728" cy="548640"/>
          </a:xfrm>
          <a:prstGeom prst="rect">
            <a:avLst/>
          </a:prstGeom>
          <a:solidFill>
            <a:srgbClr val="FF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512064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FF5A5A"/>
                </a:solidFill>
                <a:latin typeface="微软雅黑"/>
                <a:ea typeface="微软雅黑"/>
                <a:cs typeface="微软雅黑"/>
              </a:rPr>
              <a:t>⑥ 存进系统</a:t>
            </a:r>
            <a:endParaRPr sz="1300" b="1" i="0">
              <a:solidFill>
                <a:srgbClr val="FF5A5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114800" y="51206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delta 合回权威库，变更归档反哺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66928" y="5760720"/>
            <a:ext cx="11064240" cy="676656"/>
          </a:xfrm>
          <a:prstGeom prst="roundRect">
            <a:avLst>
              <a:gd name="adj" fmla="val 12000"/>
            </a:avLst>
          </a:prstGeom>
          <a:solidFill>
            <a:srgbClr val="172038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760720"/>
            <a:ext cx="1060704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2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变更骨架：</a:t>
            </a: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读 → 立规格 → 批 → 做 → 验 → 存。</a:t>
            </a:r>
            <a:r>
              <a:rPr sz="115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  需要人工判断的是 ①②③⑤，④⑥ 由 Agent 按规则执行。</a:t>
            </a:r>
            <a:endParaRPr sz="115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0292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75051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99811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24570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49330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FFB02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6693408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05 · 怎么用·落地</a:t>
            </a:r>
            <a:endParaRPr sz="85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Use·走查   |   14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05 · USE · 需要时去哪儿</a:t>
            </a:r>
            <a:endParaRPr sz="115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一份速查：按任务类型定位文件</a:t>
            </a:r>
            <a:endParaRPr sz="2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1737360"/>
            <a:ext cx="109728" cy="566928"/>
          </a:xfrm>
          <a:prstGeom prst="rect">
            <a:avLst/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1737360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给 AI 带上下文 / 边界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52160" y="1737360"/>
            <a:ext cx="5212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0">
                <a:solidFill>
                  <a:srgbClr val="00D9FF"/>
                </a:solidFill>
                <a:latin typeface="Consolas"/>
                <a:ea typeface="Consolas"/>
                <a:cs typeface="Consolas"/>
              </a:rPr>
              <a:t>CLAUDE.md · AGENTS.md · AI.md · agent-policy.yaml</a:t>
            </a:r>
            <a:endParaRPr sz="1150" b="0" i="0">
              <a:solidFill>
                <a:srgbClr val="00D9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2960" y="2395728"/>
            <a:ext cx="109728" cy="566928"/>
          </a:xfrm>
          <a:prstGeom prst="rect">
            <a:avLst/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395728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发起一次变更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52160" y="2395728"/>
            <a:ext cx="5212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0">
                <a:solidFill>
                  <a:srgbClr val="00FF9D"/>
                </a:solidFill>
                <a:latin typeface="Consolas"/>
                <a:ea typeface="Consolas"/>
                <a:cs typeface="Consolas"/>
              </a:rPr>
              <a:t>openspec / changes / &lt;change-id&gt; /</a:t>
            </a:r>
            <a:endParaRPr sz="1150" b="0" i="0">
              <a:solidFill>
                <a:srgbClr val="00FF9D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2960" y="3054096"/>
            <a:ext cx="109728" cy="566928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054096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看方案 / 审设计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52160" y="3054096"/>
            <a:ext cx="5212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0">
                <a:solidFill>
                  <a:srgbClr val="9B6BFF"/>
                </a:solidFill>
                <a:latin typeface="Consolas"/>
                <a:ea typeface="Consolas"/>
                <a:cs typeface="Consolas"/>
              </a:rPr>
              <a:t>← / design.md</a:t>
            </a:r>
            <a:endParaRPr sz="1150" b="0" i="0">
              <a:solidFill>
                <a:srgbClr val="9B6B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22960" y="3712464"/>
            <a:ext cx="109728" cy="566928"/>
          </a:xfrm>
          <a:prstGeom prst="rect">
            <a:avLst/>
          </a:prstGeom>
          <a:solidFill>
            <a:srgbClr val="FF3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3712464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看进度 / 勾任务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852160" y="3712464"/>
            <a:ext cx="5212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0">
                <a:solidFill>
                  <a:srgbClr val="FF3D8A"/>
                </a:solidFill>
                <a:latin typeface="Consolas"/>
                <a:ea typeface="Consolas"/>
                <a:cs typeface="Consolas"/>
              </a:rPr>
              <a:t>← / tasks.md（唯一任务源）</a:t>
            </a:r>
            <a:endParaRPr sz="1150" b="0" i="0">
              <a:solidFill>
                <a:srgbClr val="FF3D8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22960" y="4370832"/>
            <a:ext cx="109728" cy="56692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370832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设定完成的标准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852160" y="4370832"/>
            <a:ext cx="5212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0">
                <a:solidFill>
                  <a:srgbClr val="FFB020"/>
                </a:solidFill>
                <a:latin typeface="Consolas"/>
                <a:ea typeface="Consolas"/>
                <a:cs typeface="Consolas"/>
              </a:rPr>
              <a:t>docs / fitness / **</a:t>
            </a:r>
            <a:endParaRPr sz="1150" b="0" i="0">
              <a:solidFill>
                <a:srgbClr val="FFB02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22960" y="5029200"/>
            <a:ext cx="109728" cy="566928"/>
          </a:xfrm>
          <a:prstGeom prst="rect">
            <a:avLst/>
          </a:prstGeom>
          <a:solidFill>
            <a:srgbClr val="FF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029200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沉淀经验 / 反哺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852160" y="5029200"/>
            <a:ext cx="5212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0">
                <a:solidFill>
                  <a:srgbClr val="FF5A5A"/>
                </a:solidFill>
                <a:latin typeface="Consolas"/>
                <a:ea typeface="Consolas"/>
                <a:cs typeface="Consolas"/>
              </a:rPr>
              <a:t>变更归档 Archive · docs / methodology / lessons</a:t>
            </a:r>
            <a:endParaRPr sz="1150" b="0" i="0">
              <a:solidFill>
                <a:srgbClr val="FF5A5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66928" y="5989320"/>
            <a:ext cx="11064240" cy="457200"/>
          </a:xfrm>
          <a:prstGeom prst="roundRect">
            <a:avLst>
              <a:gd name="adj" fmla="val 14000"/>
            </a:avLst>
          </a:prstGeom>
          <a:solidFill>
            <a:srgbClr val="0C241F"/>
          </a:solidFill>
          <a:ln w="12700">
            <a:solidFill>
              <a:srgbClr val="00FF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9893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5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通用规则：路径即真相——看到哪一层，就只加载那一层的规则，别全塞上下文。</a:t>
            </a:r>
            <a:endParaRPr sz="115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0292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75051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99811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24570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49330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FFB02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693408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05 · 怎么用·落地</a:t>
            </a:r>
            <a:endParaRPr sz="85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Use·速查   |   15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05 · USE · 落地成品：aegis</a:t>
            </a:r>
            <a:endParaRPr sz="115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照着这套结构接入：入口、运行时、适配器各守边界</a:t>
            </a:r>
            <a:endParaRPr sz="2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463040"/>
            <a:ext cx="5577840" cy="3749039"/>
          </a:xfrm>
          <a:prstGeom prst="roundRect">
            <a:avLst>
              <a:gd name="adj" fmla="val 5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157276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aegis 的接入地图</a:t>
            </a:r>
            <a:endParaRPr sz="115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aegis-application：唯一可运行入口 / 组合根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aegis-channel：飞书等渠道，只依赖 core 契约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aegis-agent：Supervisor、log-agent 与领域编排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aegis-runtime：注册表、规划、执行、guardrail、事件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aegis-core：纯 Java Agent / Tool / Skill / Gateway 契约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6928" y="5394960"/>
            <a:ext cx="5577840" cy="914400"/>
          </a:xfrm>
          <a:prstGeom prst="roundRect">
            <a:avLst>
              <a:gd name="adj" fmla="val 10000"/>
            </a:avLst>
          </a:prstGeom>
          <a:solidFill>
            <a:srgbClr val="2A1D08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5468112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接入时先确认</a:t>
            </a:r>
            <a:endParaRPr sz="110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8A97AD"/>
                </a:solidFill>
                <a:latin typeface="微软雅黑"/>
                <a:ea typeface="微软雅黑"/>
                <a:cs typeface="微软雅黑"/>
              </a:rPr>
              <a:t>根 ai.json / AI.md 路由真实存在；模块边界与本地验证命令可执行。</a:t>
            </a:r>
            <a:endParaRPr sz="1050" b="0" i="0">
              <a:solidFill>
                <a:srgbClr val="8A97A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09360" y="1463040"/>
            <a:ext cx="5303520" cy="3749039"/>
          </a:xfrm>
          <a:prstGeom prst="roundRect">
            <a:avLst>
              <a:gd name="adj" fmla="val 5000"/>
            </a:avLst>
          </a:prstGeom>
          <a:solidFill>
            <a:srgbClr val="0C241F"/>
          </a:solidFill>
          <a:ln w="12700">
            <a:solidFill>
              <a:srgbClr val="00FF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57276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照着做一次代表性变更</a:t>
            </a:r>
            <a:endParaRPr sz="115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1. 从 aegis/ai.json 解析目标模块上下文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2. 在 openspec/changes/&lt;change-id&gt;/ 写 proposal / spec / design / tasks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3. 设计确认后 Apply；每个任务记录 execution-evidence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4. Verify / Fitness 通过后 Sync，再 Archive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5. 失败形成 lesson candidate；重复问题再升级为规则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5051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9811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4570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9330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FFB02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693408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05 · 怎么用·落地</a:t>
            </a:r>
            <a:endParaRPr sz="85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Use·aegis   |   16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05 · USE · 真实案例 01</a:t>
            </a:r>
            <a:endParaRPr sz="115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网关只转发，决策留在 underwriter</a:t>
            </a:r>
            <a:endParaRPr sz="2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316736"/>
            <a:ext cx="11064240" cy="402336"/>
          </a:xfrm>
          <a:prstGeom prst="roundRect">
            <a:avLst>
              <a:gd name="adj" fmla="val 14000"/>
            </a:avLst>
          </a:prstGeom>
          <a:solidFill>
            <a:srgbClr val="172038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316736"/>
            <a:ext cx="64008" cy="402336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316736"/>
            <a:ext cx="106984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身份核验接入的关键不是多写一层代码，而是先划清：谁负责决策，谁只负责把契约接进来。</a:t>
            </a:r>
            <a:endParaRPr sz="11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1847088"/>
            <a:ext cx="5440680" cy="4315968"/>
          </a:xfrm>
          <a:prstGeom prst="roundRect">
            <a:avLst>
              <a:gd name="adj" fmla="val 6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9933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发生了什么</a:t>
            </a:r>
            <a:endParaRPr sz="130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APP 需要接入用信活体核验，但 appserver 不承载风控决策。</a:t>
            </a:r>
            <a:endParaRPr sz="12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网关若读取路由配置、做活体判断，职责就会越界。</a:t>
            </a:r>
            <a:endParaRPr sz="12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" y="3840480"/>
            <a:ext cx="4892040" cy="1691640"/>
          </a:xfrm>
          <a:prstGeom prst="roundRect">
            <a:avLst>
              <a:gd name="adj" fmla="val 5000"/>
            </a:avLst>
          </a:prstGeom>
          <a:solidFill>
            <a:srgbClr val="0A2230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005072"/>
            <a:ext cx="4526280" cy="1353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APP  →  appserver  →  LoanVerifyRouteApi  →  underwriter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Bef>
                <a:spcPts val="1000"/>
              </a:spcBef>
            </a:pPr>
            <a:r>
              <a:rPr sz="1150" b="0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网关：校验 / 转换 / 包装    ·    后端：路由 / 活体规则 / 结果验证</a:t>
            </a:r>
            <a:endParaRPr sz="1150" b="0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09360" y="1847088"/>
            <a:ext cx="5303520" cy="4315968"/>
          </a:xfrm>
          <a:prstGeom prst="roundRect">
            <a:avLst>
              <a:gd name="adj" fmla="val 6000"/>
            </a:avLst>
          </a:prstGeom>
          <a:solidFill>
            <a:srgbClr val="0C241F"/>
          </a:solidFill>
          <a:ln w="12700">
            <a:solidFill>
              <a:srgbClr val="00FF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1993392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项目怎么做  ·  可复用做法</a:t>
            </a:r>
            <a:endParaRPr sz="130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新增 Feign Client + Request/Response DTO，Controller 保持薄层。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underwriter 独占路由策略、活体规则下发与结果验证。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成功、失败、Feign 异常路径都做验证；verifyId 可选透传，保持兼容。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复用原则：新增接口先写清『谁决策、谁转发、谁留证据』。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6384" y="6263640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 i="0">
                <a:solidFill>
                  <a:srgbClr val="5A667E"/>
                </a:solidFill>
                <a:latin typeface="Consolas"/>
                <a:ea typeface="Consolas"/>
                <a:cs typeface="Consolas"/>
              </a:rPr>
              <a:t>来源：xiaohua_vn · underwriter/add-loan-liveness-verify + appserver/integrate-underwriter-identity-verification</a:t>
            </a:r>
            <a:endParaRPr sz="850" b="0" i="0">
              <a:solidFill>
                <a:srgbClr val="5A667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292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5051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9811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4570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9330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FFB02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693408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05 · 怎么用·落地</a:t>
            </a:r>
            <a:endParaRPr sz="85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Use·案例   |   17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05 · USE · 真实案例 02</a:t>
            </a:r>
            <a:endParaRPr sz="115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先拆生产者与消费者，模块边界自然清楚</a:t>
            </a:r>
            <a:endParaRPr sz="2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316736"/>
            <a:ext cx="11064240" cy="402336"/>
          </a:xfrm>
          <a:prstGeom prst="roundRect">
            <a:avLst>
              <a:gd name="adj" fmla="val 14000"/>
            </a:avLst>
          </a:prstGeom>
          <a:solidFill>
            <a:srgbClr val="172038"/>
          </a:solidFill>
          <a:ln w="12700">
            <a:solidFill>
              <a:srgbClr val="00FF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316736"/>
            <a:ext cx="64008" cy="402336"/>
          </a:xfrm>
          <a:prstGeom prst="roundRect">
            <a:avLst>
              <a:gd name="adj" fmla="val 50000"/>
            </a:avLst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316736"/>
            <a:ext cx="106984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短信指标迁移没有改业务口径，先把『生成聚合事实』和『消费决策输入』拆开，复用就顺了。</a:t>
            </a:r>
            <a:endParaRPr sz="11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1847088"/>
            <a:ext cx="5532120" cy="4315968"/>
          </a:xfrm>
          <a:prstGeom prst="roundRect">
            <a:avLst>
              <a:gd name="adj" fmla="val 6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99339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发生了什么</a:t>
            </a:r>
            <a:endParaRPr sz="130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原来 magic 同时采集短信、解释配置、计算指标、消费规则，职责过重。</a:t>
            </a:r>
            <a:endParaRPr sz="12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其他模块想复用短信指标，只能绕过 aggr，边界越来越模糊。</a:t>
            </a:r>
            <a:endParaRPr sz="12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" y="3913632"/>
            <a:ext cx="2148840" cy="1554480"/>
          </a:xfrm>
          <a:prstGeom prst="roundRect">
            <a:avLst>
              <a:gd name="adj" fmla="val 6000"/>
            </a:avLst>
          </a:prstGeom>
          <a:solidFill>
            <a:srgbClr val="2A1D08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087368"/>
            <a:ext cx="182880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原来</a:t>
            </a:r>
            <a:endParaRPr sz="110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magic 既生产又消费</a:t>
            </a:r>
            <a:endParaRPr sz="12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429000" y="3913632"/>
            <a:ext cx="2148840" cy="1554480"/>
          </a:xfrm>
          <a:prstGeom prst="roundRect">
            <a:avLst>
              <a:gd name="adj" fmla="val 6000"/>
            </a:avLst>
          </a:prstGeom>
          <a:solidFill>
            <a:srgbClr val="0C241F"/>
          </a:solidFill>
          <a:ln w="12700">
            <a:solidFill>
              <a:srgbClr val="00FF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3592" y="4087368"/>
            <a:ext cx="182880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现在</a:t>
            </a:r>
            <a:endParaRPr sz="110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  <a:p>
            <a:pPr algn="ctr"/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aggr 生产画像  →  magic 消费</a:t>
            </a:r>
            <a:endParaRPr sz="11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309360" y="1847088"/>
            <a:ext cx="5303520" cy="4315968"/>
          </a:xfrm>
          <a:prstGeom prst="roundRect">
            <a:avLst>
              <a:gd name="adj" fmla="val 6000"/>
            </a:avLst>
          </a:prstGeom>
          <a:solidFill>
            <a:srgbClr val="0A2230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1993392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项目怎么做  ·  可复用做法</a:t>
            </a:r>
            <a:endParaRPr sz="130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aggr 承接采集 → 计算 → 结果装配，对外暴露明确 DTO。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magic 改成 Feign 消费方，保留薄适配入口，避免一次性大拆。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82 个指标业务口径保持不变，Map&lt;String,Object&gt; 换成强类型契约。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复用原则：先问『谁生产事实，谁消费事实』，再移动代码。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6384" y="6263640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 i="0">
                <a:solidFill>
                  <a:srgbClr val="5A667E"/>
                </a:solidFill>
                <a:latin typeface="Consolas"/>
                <a:ea typeface="Consolas"/>
                <a:cs typeface="Consolas"/>
              </a:rPr>
              <a:t>来源：xiaohua_vn · openspec/changes/migrate-sms-indicator-calculation-to-aggr/</a:t>
            </a:r>
            <a:endParaRPr sz="850" b="0" i="0">
              <a:solidFill>
                <a:srgbClr val="5A667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292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5051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99811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4570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9330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FFB02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693408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05 · 怎么用·落地</a:t>
            </a:r>
            <a:endParaRPr sz="85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Use·案例   |   18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05 · USE · 真实案例 03</a:t>
            </a:r>
            <a:endParaRPr sz="115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把随机分流改成同一用户稳定命中</a:t>
            </a:r>
            <a:endParaRPr sz="2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316736"/>
            <a:ext cx="11064240" cy="402336"/>
          </a:xfrm>
          <a:prstGeom prst="roundRect">
            <a:avLst>
              <a:gd name="adj" fmla="val 14000"/>
            </a:avLst>
          </a:prstGeom>
          <a:solidFill>
            <a:srgbClr val="172038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316736"/>
            <a:ext cx="64008" cy="402336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316736"/>
            <a:ext cx="106984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重试场景最怕『第一次和第二次不是同一家』；把路由输入从 choose() 变成 choose(cid)，问题立刻可控。</a:t>
            </a:r>
            <a:endParaRPr sz="11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1847088"/>
            <a:ext cx="5440680" cy="4315968"/>
          </a:xfrm>
          <a:prstGeom prst="roundRect">
            <a:avLst>
              <a:gd name="adj" fmla="val 6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9933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发生了什么</a:t>
            </a:r>
            <a:endParaRPr sz="130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原来 LivenessProviderRouter.choose() 随机分流，同一用户重试可能切换服务商。</a:t>
            </a:r>
            <a:endParaRPr sz="12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首次拿到的 livenessId 与后续服务商不匹配，排查困难，用户体验也不稳定。</a:t>
            </a:r>
            <a:endParaRPr sz="12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" y="3931920"/>
            <a:ext cx="2103120" cy="1508760"/>
          </a:xfrm>
          <a:prstGeom prst="roundRect">
            <a:avLst>
              <a:gd name="adj" fmla="val 6000"/>
            </a:avLst>
          </a:prstGeom>
          <a:solidFill>
            <a:srgbClr val="2A1D08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114800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随机</a:t>
            </a:r>
            <a:endParaRPr sz="150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  <a:p>
            <a:pPr algn="ctr"/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重试可能换服务商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383280" y="3931920"/>
            <a:ext cx="2194560" cy="1508760"/>
          </a:xfrm>
          <a:prstGeom prst="roundRect">
            <a:avLst>
              <a:gd name="adj" fmla="val 6000"/>
            </a:avLst>
          </a:prstGeom>
          <a:solidFill>
            <a:srgbClr val="0C241F"/>
          </a:solidFill>
          <a:ln w="12700">
            <a:solidFill>
              <a:srgbClr val="00FF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411480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按 cid</a:t>
            </a:r>
            <a:endParaRPr sz="150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  <a:p>
            <a:pPr algn="ctr"/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同一用户稳定命中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309360" y="1847088"/>
            <a:ext cx="5303520" cy="4315968"/>
          </a:xfrm>
          <a:prstGeom prst="roundRect">
            <a:avLst>
              <a:gd name="adj" fmla="val 6000"/>
            </a:avLst>
          </a:prstGeom>
          <a:solidFill>
            <a:srgbClr val="0C241F"/>
          </a:solidFill>
          <a:ln w="12700">
            <a:solidFill>
              <a:srgbClr val="00FF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1993392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项目怎么做  ·  可复用做法</a:t>
            </a:r>
            <a:endParaRPr sz="130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使用 cid 末两位做确定性路由；Apollo 权重语义保持不变。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cid 为 null、空串、非数字时走降级策略，不让异常输入阻断主链路。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用 00 / 49 / 50 / 99 等边界值验证，回滚就是恢复随机分流。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0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复用原则：任何灰度或路由先问『同一用户是否必须稳定命中』。</a:t>
            </a:r>
            <a:endParaRPr sz="120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6384" y="6263640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 i="0">
                <a:solidFill>
                  <a:srgbClr val="5A667E"/>
                </a:solidFill>
                <a:latin typeface="Consolas"/>
                <a:ea typeface="Consolas"/>
                <a:cs typeface="Consolas"/>
              </a:rPr>
              <a:t>来源：xiaohua_vn · openspec/changes/liveness-provider-cid-weighted-routing/</a:t>
            </a:r>
            <a:endParaRPr sz="850" b="0" i="0">
              <a:solidFill>
                <a:srgbClr val="5A667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292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5051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99811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4570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9330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FFB02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693408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05 · 怎么用·落地</a:t>
            </a:r>
            <a:endParaRPr sz="85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Use·案例   |   19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FF3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FF3D8A"/>
                </a:solidFill>
                <a:latin typeface="微软雅黑"/>
                <a:ea typeface="微软雅黑"/>
                <a:cs typeface="微软雅黑"/>
              </a:rPr>
              <a:t>05 · USE · 真实案例 04</a:t>
            </a:r>
            <a:endParaRPr sz="1150" b="1" i="0">
              <a:solidFill>
                <a:srgbClr val="FF3D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线上失败不是靠提醒，而是变成运行时边界</a:t>
            </a:r>
            <a:endParaRPr sz="2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FF3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316736"/>
            <a:ext cx="11064240" cy="402336"/>
          </a:xfrm>
          <a:prstGeom prst="roundRect">
            <a:avLst>
              <a:gd name="adj" fmla="val 14000"/>
            </a:avLst>
          </a:prstGeom>
          <a:solidFill>
            <a:srgbClr val="172038"/>
          </a:solidFill>
          <a:ln w="12700">
            <a:solidFill>
              <a:srgbClr val="FF3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316736"/>
            <a:ext cx="64008" cy="402336"/>
          </a:xfrm>
          <a:prstGeom prst="roundRect">
            <a:avLst>
              <a:gd name="adj" fmla="val 50000"/>
            </a:avLst>
          </a:prstGeom>
          <a:solidFill>
            <a:srgbClr val="FF3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316736"/>
            <a:ext cx="106984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 i="0">
                <a:solidFill>
                  <a:srgbClr val="FF3D8A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aegis 的做法很直接：把超窗、误查代码这类风险，收口到运行时接缝和工具声明里。</a:t>
            </a:r>
            <a:endParaRPr sz="11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1847088"/>
            <a:ext cx="5486400" cy="4315968"/>
          </a:xfrm>
          <a:prstGeom prst="roundRect">
            <a:avLst>
              <a:gd name="adj" fmla="val 6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993392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FF3D8A"/>
                </a:solidFill>
                <a:latin typeface="微软雅黑"/>
                <a:ea typeface="微软雅黑"/>
                <a:cs typeface="微软雅黑"/>
              </a:rPr>
              <a:t>发生了什么</a:t>
            </a:r>
            <a:endParaRPr sz="1300" b="1" i="0">
              <a:solidFill>
                <a:srgbClr val="FF3D8A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LKE 曾出现 input length too long；自由环还能自主查询私有 GitLab 代码。</a:t>
            </a:r>
            <a:endParaRPr sz="12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只写提示词提醒不够：一个是运行时边界，一个是能力暴露边界。</a:t>
            </a:r>
            <a:endParaRPr sz="12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" y="3950208"/>
            <a:ext cx="4892040" cy="1572768"/>
          </a:xfrm>
          <a:prstGeom prst="roundRect">
            <a:avLst>
              <a:gd name="adj" fmla="val 6000"/>
            </a:avLst>
          </a:prstGeom>
          <a:solidFill>
            <a:srgbClr val="1B1433"/>
          </a:solidFill>
          <a:ln w="12700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133087"/>
            <a:ext cx="44805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 / 风险  →  change  →  可执行护栏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Bef>
                <a:spcPts val="1000"/>
              </a:spcBef>
            </a:pPr>
            <a:r>
              <a:rPr sz="1150" b="0" i="0">
                <a:solidFill>
                  <a:srgbClr val="FF3D8A"/>
                </a:solidFill>
                <a:latin typeface="微软雅黑"/>
                <a:ea typeface="微软雅黑"/>
                <a:cs typeface="微软雅黑"/>
              </a:rPr>
              <a:t>问题变成仓库里的默认行为</a:t>
            </a:r>
            <a:endParaRPr sz="1150" b="0" i="0">
              <a:solidFill>
                <a:srgbClr val="FF3D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09360" y="1847088"/>
            <a:ext cx="5303520" cy="4315968"/>
          </a:xfrm>
          <a:prstGeom prst="roundRect">
            <a:avLst>
              <a:gd name="adj" fmla="val 6000"/>
            </a:avLst>
          </a:prstGeom>
          <a:solidFill>
            <a:srgbClr val="0C241F"/>
          </a:solidFill>
          <a:ln w="12700">
            <a:solidFill>
              <a:srgbClr val="00FF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1993392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项目怎么做  ·  可复用做法</a:t>
            </a:r>
            <a:endParaRPr sz="130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0000"/>
              </a:lnSpc>
              <a:spcBef>
                <a:spcPts val="900"/>
              </a:spcBef>
            </a:pPr>
            <a:r>
              <a:rPr sz="113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context-window：ModelClient 缝估算预算，先丢最老 history，再收窄 userText；工具结果封顶 8,000 字符。</a:t>
            </a:r>
            <a:endParaRPr sz="113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0000"/>
              </a:lnSpc>
              <a:spcBef>
                <a:spcPts val="900"/>
              </a:spcBef>
            </a:pPr>
            <a:r>
              <a:rPr sz="113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code-query-human-confirmation：从自由环移除 code.lookup / code.search，只保留用户显式触发的 code.locate。</a:t>
            </a:r>
            <a:endParaRPr sz="113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0000"/>
              </a:lnSpc>
              <a:spcBef>
                <a:spcPts val="900"/>
              </a:spcBef>
            </a:pPr>
            <a:r>
              <a:rPr sz="113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默认关闭或受控启用，保留 fail-open / 回滚路径，避免护栏变成新故障。</a:t>
            </a:r>
            <a:endParaRPr sz="113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0000"/>
              </a:lnSpc>
              <a:spcBef>
                <a:spcPts val="900"/>
              </a:spcBef>
            </a:pPr>
            <a:r>
              <a:rPr sz="113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复用原则：高风险能力优先结构性收口，线上失败优先落成可配置边界。</a:t>
            </a:r>
            <a:endParaRPr sz="113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6384" y="6263640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 i="0">
                <a:solidFill>
                  <a:srgbClr val="5A667E"/>
                </a:solidFill>
                <a:latin typeface="Consolas"/>
                <a:ea typeface="Consolas"/>
                <a:cs typeface="Consolas"/>
              </a:rPr>
              <a:t>来源：xhproject/aegis · archive/2026-09-09-log-context-window-cap/ + archive/2026-09-09-code-query-human-confirmation/</a:t>
            </a:r>
            <a:endParaRPr sz="850" b="0" i="0">
              <a:solidFill>
                <a:srgbClr val="5A667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292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5051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9811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4570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9330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FFB02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693408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05 · 怎么用·落地</a:t>
            </a:r>
            <a:endParaRPr sz="85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Use·案例   |   20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05 · USE · </a:t>
            </a:r>
            <a:r>
              <a:rPr lang="zh-CN" sz="115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变量中心</a:t>
            </a:r>
            <a:r>
              <a:rPr sz="115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 案例 05</a:t>
            </a:r>
            <a:endParaRPr sz="115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 SQL 变成 240+ 个可复用还款变量</a:t>
            </a:r>
            <a:endParaRPr sz="2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316736"/>
            <a:ext cx="11064240" cy="402336"/>
          </a:xfrm>
          <a:prstGeom prst="roundRect">
            <a:avLst>
              <a:gd name="adj" fmla="val 14000"/>
            </a:avLst>
          </a:prstGeom>
          <a:solidFill>
            <a:srgbClr val="172038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316736"/>
            <a:ext cx="64008" cy="402336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316736"/>
            <a:ext cx="106984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核心判断：大规模变量建设先守住语义，再扩展窗口、维度和消费场景。</a:t>
            </a:r>
            <a:endParaRPr sz="11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1847088"/>
            <a:ext cx="5440680" cy="4315968"/>
          </a:xfrm>
          <a:prstGeom prst="roundRect">
            <a:avLst>
              <a:gd name="adj" fmla="val 6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9933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发生了什么</a:t>
            </a:r>
            <a:endParaRPr sz="130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2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风控需要还款行为画像；V3 Hive SQL 已有口径，线上取数落到 MySQL 实时表。</a:t>
            </a:r>
            <a:endParaRPr sz="122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2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变量覆盖历史、近 N 期 / 月、生命周期、逾期时序、订单结构与趋势交叉。</a:t>
            </a:r>
            <a:endParaRPr sz="122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" y="3913632"/>
            <a:ext cx="4892040" cy="1645920"/>
          </a:xfrm>
          <a:prstGeom prst="roundRect">
            <a:avLst>
              <a:gd name="adj" fmla="val 6000"/>
            </a:avLst>
          </a:prstGeom>
          <a:solidFill>
            <a:srgbClr val="0A2230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078224"/>
            <a:ext cx="452628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Stage 0 预处理  →  Stage 1 标签  →  多窗口聚合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Bef>
                <a:spcPts val="900"/>
              </a:spcBef>
            </a:pPr>
            <a:r>
              <a:rPr sz="1150" b="0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实时计算 · 变量包 LOAA_PRE / LOAB_PRE</a:t>
            </a:r>
            <a:endParaRPr sz="1150" b="0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09360" y="1847088"/>
            <a:ext cx="5303520" cy="4315968"/>
          </a:xfrm>
          <a:prstGeom prst="roundRect">
            <a:avLst>
              <a:gd name="adj" fmla="val 6000"/>
            </a:avLst>
          </a:prstGeom>
          <a:solidFill>
            <a:srgbClr val="0C241F"/>
          </a:solidFill>
          <a:ln w="12700">
            <a:solidFill>
              <a:srgbClr val="00FF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1993392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项目怎么做  ·  可复用做法</a:t>
            </a:r>
            <a:endParaRPr sz="130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0000"/>
              </a:lnSpc>
              <a:spcBef>
                <a:spcPts val="900"/>
              </a:spcBef>
            </a:pPr>
            <a:r>
              <a:rPr sz="114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用 V3 SQL 作为语义基线，Java 侧拆成预处理、标签、聚合和结果 DTO。</a:t>
            </a:r>
            <a:endParaRPr sz="114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0000"/>
              </a:lnSpc>
              <a:spcBef>
                <a:spcPts val="900"/>
              </a:spcBef>
            </a:pPr>
            <a:r>
              <a:rPr sz="114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按 3/6/12/24/36 期、3/6/12/24/36/60 月等窗口复用同一套中间模型。</a:t>
            </a:r>
            <a:endParaRPr sz="114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0000"/>
              </a:lnSpc>
              <a:spcBef>
                <a:spcPts val="900"/>
              </a:spcBef>
            </a:pPr>
            <a:r>
              <a:rPr sz="114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修复 `as_of_date &gt; current_repay_date` 过滤后，近 N 期与连续逾期结果不再纳入未来期次。</a:t>
            </a:r>
            <a:endParaRPr sz="114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0000"/>
              </a:lnSpc>
              <a:spcBef>
                <a:spcPts val="900"/>
              </a:spcBef>
            </a:pPr>
            <a:r>
              <a:rPr sz="114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可复用原则：先固定口径，再扩展变量数量；聚合维度必须可回溯到来源规则。</a:t>
            </a:r>
            <a:endParaRPr sz="114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6384" y="6263640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 i="0">
                <a:solidFill>
                  <a:srgbClr val="5A667E"/>
                </a:solidFill>
                <a:latin typeface="Consolas"/>
                <a:ea typeface="Consolas"/>
                <a:cs typeface="Consolas"/>
              </a:rPr>
              <a:t>来源：varhub-risk · openspec/changes/repay-derivative-variables/ + align-v3-sql-code-logic/</a:t>
            </a:r>
            <a:endParaRPr sz="850" b="0" i="0">
              <a:solidFill>
                <a:srgbClr val="5A667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292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5051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9811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4570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9330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FFB02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693408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05 · 怎么用·落地</a:t>
            </a:r>
            <a:endParaRPr sz="85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Use·案例   |   21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05 · USE · varhub-risk 案例 06</a:t>
            </a:r>
            <a:endParaRPr sz="115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跨库学历特征：静态数据进入变量中心</a:t>
            </a:r>
            <a:endParaRPr sz="2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316736"/>
            <a:ext cx="11064240" cy="402336"/>
          </a:xfrm>
          <a:prstGeom prst="roundRect">
            <a:avLst>
              <a:gd name="adj" fmla="val 14000"/>
            </a:avLst>
          </a:prstGeom>
          <a:solidFill>
            <a:srgbClr val="172038"/>
          </a:solidFill>
          <a:ln w="12700">
            <a:solidFill>
              <a:srgbClr val="00FF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316736"/>
            <a:ext cx="64008" cy="402336"/>
          </a:xfrm>
          <a:prstGeom prst="roundRect">
            <a:avLst>
              <a:gd name="adj" fmla="val 50000"/>
            </a:avLst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316736"/>
            <a:ext cx="106984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核心判断：跨库特征的难点不在查询，而在数据所有权、身份关联和变量契约。</a:t>
            </a:r>
            <a:endParaRPr sz="11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1847088"/>
            <a:ext cx="5440680" cy="4315968"/>
          </a:xfrm>
          <a:prstGeom prst="roundRect">
            <a:avLst>
              <a:gd name="adj" fmla="val 6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9933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发生了什么</a:t>
            </a:r>
            <a:endParaRPr sz="130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2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提现审批和跑批需要学历画像，但变量中心缺少学信网离线回溯特征。</a:t>
            </a:r>
            <a:endParaRPr sz="122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2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数据由 DBA 落库，服务侧负责消费 4 张静态表并加工 9 个变量。</a:t>
            </a:r>
            <a:endParaRPr sz="122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" y="3913632"/>
            <a:ext cx="4892040" cy="1645920"/>
          </a:xfrm>
          <a:prstGeom prst="roundRect">
            <a:avLst>
              <a:gd name="adj" fmla="val 6000"/>
            </a:avLst>
          </a:prstGeom>
          <a:solidFill>
            <a:srgbClr val="0A2230"/>
          </a:solidFill>
          <a:ln w="12700">
            <a:solidFill>
              <a:srgbClr val="00FF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078224"/>
            <a:ext cx="452628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学历 / 学籍  +  软科排名  +  985/211 标签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Bef>
                <a:spcPts val="900"/>
              </a:spcBef>
            </a:pPr>
            <a:r>
              <a:rPr sz="1150" b="0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identity_no_md5 关联  →  9 个类型化变量</a:t>
            </a:r>
            <a:endParaRPr sz="1150" b="0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09360" y="1847088"/>
            <a:ext cx="5303520" cy="4315968"/>
          </a:xfrm>
          <a:prstGeom prst="roundRect">
            <a:avLst>
              <a:gd name="adj" fmla="val 6000"/>
            </a:avLst>
          </a:prstGeom>
          <a:solidFill>
            <a:srgbClr val="0C241F"/>
          </a:solidFill>
          <a:ln w="12700">
            <a:solidFill>
              <a:srgbClr val="00FF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1993392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项目怎么做  ·  可复用做法</a:t>
            </a:r>
            <a:endParaRPr sz="130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0000"/>
              </a:lnSpc>
              <a:spcBef>
                <a:spcPts val="900"/>
              </a:spcBef>
            </a:pPr>
            <a:r>
              <a:rPr sz="114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新增 EducationFeatureService，查询与加工集中在变量服务，不泄漏静态表细节。</a:t>
            </a:r>
            <a:endParaRPr sz="114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0000"/>
              </a:lnSpc>
              <a:spcBef>
                <a:spcPts val="900"/>
              </a:spcBef>
            </a:pPr>
            <a:r>
              <a:rPr sz="114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整数 / 字符串变量使用明确后缀和 DTO，注册后绑定 LOAA_PRE / LOAB_PRE。</a:t>
            </a:r>
            <a:endParaRPr sz="114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0000"/>
              </a:lnSpc>
              <a:spcBef>
                <a:spcPts val="900"/>
              </a:spcBef>
            </a:pPr>
            <a:r>
              <a:rPr sz="114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DBA 负责表结构与落库，服务负责读取、转换和变量口径，边界清晰。</a:t>
            </a:r>
            <a:endParaRPr sz="114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0000"/>
              </a:lnSpc>
              <a:spcBef>
                <a:spcPts val="900"/>
              </a:spcBef>
            </a:pPr>
            <a:r>
              <a:rPr sz="114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可复用原则：先定义数据 owner、关联键、空值语义，再定义变量编码。</a:t>
            </a:r>
            <a:endParaRPr sz="114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6384" y="6263640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 i="0">
                <a:solidFill>
                  <a:srgbClr val="5A667E"/>
                </a:solidFill>
                <a:latin typeface="Consolas"/>
                <a:ea typeface="Consolas"/>
                <a:cs typeface="Consolas"/>
              </a:rPr>
              <a:t>来源：varhub-risk · openspec/changes/education-features/</a:t>
            </a:r>
            <a:endParaRPr sz="850" b="0" i="0">
              <a:solidFill>
                <a:srgbClr val="5A667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292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5051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9811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4570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9330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FFB02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693408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05 · 怎么用·落地</a:t>
            </a:r>
            <a:endParaRPr sz="85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Use·案例   |   22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05 · USE · varhub-risk 案例 07</a:t>
            </a:r>
            <a:endParaRPr sz="115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订单标签直连三域，保持决策变量单一入口</a:t>
            </a:r>
            <a:endParaRPr sz="2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316736"/>
            <a:ext cx="11064240" cy="402336"/>
          </a:xfrm>
          <a:prstGeom prst="roundRect">
            <a:avLst>
              <a:gd name="adj" fmla="val 14000"/>
            </a:avLst>
          </a:prstGeom>
          <a:solidFill>
            <a:srgbClr val="172038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316736"/>
            <a:ext cx="64008" cy="402336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316736"/>
            <a:ext cx="106984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核心判断：跨域取数先固定路由语义，再把上游差异收敛成一个稳定变量。</a:t>
            </a:r>
            <a:endParaRPr sz="11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1847088"/>
            <a:ext cx="5440680" cy="4315968"/>
          </a:xfrm>
          <a:prstGeom prst="roundRect">
            <a:avLst>
              <a:gd name="adj" fmla="val 6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9933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发生了什么</a:t>
            </a:r>
            <a:endParaRPr sz="130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2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贷中决策需要识别订单购买的是优享卡、补 16% 保险，还是未购买。</a:t>
            </a:r>
            <a:endParaRPr sz="122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sz="122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事实分散在 order、rubick、datainquiry 三个域，变量中心不复制上游业务逻辑。</a:t>
            </a:r>
            <a:endParaRPr sz="122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" y="3913632"/>
            <a:ext cx="4892040" cy="1645920"/>
          </a:xfrm>
          <a:prstGeom prst="roundRect">
            <a:avLst>
              <a:gd name="adj" fmla="val 6000"/>
            </a:avLst>
          </a:prstGeom>
          <a:solidFill>
            <a:srgbClr val="2A1D08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078224"/>
            <a:ext cx="452628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order 路由  →  保险查询 / 优享卡查询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Bef>
                <a:spcPts val="900"/>
              </a:spcBef>
            </a:pPr>
            <a:r>
              <a:rPr sz="1150" b="0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汇聚为 ORDER_PCH_CARD_TYPE_S：0 / 1 / 2</a:t>
            </a:r>
            <a:endParaRPr sz="1150" b="0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09360" y="1847088"/>
            <a:ext cx="5303520" cy="4315968"/>
          </a:xfrm>
          <a:prstGeom prst="roundRect">
            <a:avLst>
              <a:gd name="adj" fmla="val 6000"/>
            </a:avLst>
          </a:prstGeom>
          <a:solidFill>
            <a:srgbClr val="0C241F"/>
          </a:solidFill>
          <a:ln w="12700">
            <a:solidFill>
              <a:srgbClr val="00FF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1993392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项目怎么做  ·  可复用做法</a:t>
            </a:r>
            <a:endParaRPr sz="130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0000"/>
              </a:lnSpc>
              <a:spcBef>
                <a:spcPts val="900"/>
              </a:spcBef>
            </a:pPr>
            <a:r>
              <a:rPr sz="114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通过 needRedirect 固定保险 hold 路径，再调用 rubick 保险查询与 datainquiry 卡查询。</a:t>
            </a:r>
            <a:endParaRPr sz="114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0000"/>
              </a:lnSpc>
              <a:spcBef>
                <a:spcPts val="900"/>
              </a:spcBef>
            </a:pPr>
            <a:r>
              <a:rPr sz="114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新增变量，不修改既有变量和接口；Dubbo consumer 版本 / group 与上游契约对齐。</a:t>
            </a:r>
            <a:endParaRPr sz="114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0000"/>
              </a:lnSpc>
              <a:spcBef>
                <a:spcPts val="900"/>
              </a:spcBef>
            </a:pPr>
            <a:r>
              <a:rPr sz="114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已知口径误差显式记录：退保回退、划扣二态等数据缺口不伪装成精确结果。</a:t>
            </a:r>
            <a:endParaRPr sz="114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0000"/>
              </a:lnSpc>
              <a:spcBef>
                <a:spcPts val="900"/>
              </a:spcBef>
            </a:pPr>
            <a:r>
              <a:rPr sz="114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可复用原则：复杂上游在服务边界收敛为单值枚举，未知契约先标注再接入。</a:t>
            </a:r>
            <a:endParaRPr sz="114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6384" y="6263640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 i="0">
                <a:solidFill>
                  <a:srgbClr val="5A667E"/>
                </a:solidFill>
                <a:latin typeface="Consolas"/>
                <a:ea typeface="Consolas"/>
                <a:cs typeface="Consolas"/>
              </a:rPr>
              <a:t>来源：varhub-risk · openspec/changes/add-order-pch-card-type-var/</a:t>
            </a:r>
            <a:endParaRPr sz="850" b="0" i="0">
              <a:solidFill>
                <a:srgbClr val="5A667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292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5051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9811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45705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28365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93300" y="6766560"/>
            <a:ext cx="2192731" cy="73152"/>
          </a:xfrm>
          <a:prstGeom prst="roundRect">
            <a:avLst>
              <a:gd name="adj" fmla="val 50000"/>
            </a:avLst>
          </a:prstGeom>
          <a:solidFill>
            <a:srgbClr val="FFB02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693408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05 · 怎么用·落地</a:t>
            </a:r>
            <a:endParaRPr sz="85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Use·案例   |   23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0561320" y="164592"/>
            <a:ext cx="1417320" cy="1417320"/>
          </a:xfrm>
          <a:prstGeom prst="donut">
            <a:avLst>
              <a:gd name="adj" fmla="val 3500"/>
            </a:avLst>
          </a:prstGeom>
          <a:solidFill>
            <a:srgbClr val="00D9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954512" y="548640"/>
            <a:ext cx="685800" cy="685800"/>
          </a:xfrm>
          <a:prstGeom prst="donut">
            <a:avLst>
              <a:gd name="adj" fmla="val 6000"/>
            </a:avLst>
          </a:prstGeom>
          <a:solidFill>
            <a:srgbClr val="9B6B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495" y="6035040"/>
            <a:ext cx="1371600" cy="32004"/>
          </a:xfrm>
          <a:prstGeom prst="rect">
            <a:avLst/>
          </a:prstGeom>
          <a:solidFill>
            <a:srgbClr val="00D9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8695" y="6153912"/>
            <a:ext cx="914400" cy="32004"/>
          </a:xfrm>
          <a:prstGeom prst="rect">
            <a:avLst/>
          </a:prstGeom>
          <a:solidFill>
            <a:srgbClr val="00D9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14455" y="6272784"/>
            <a:ext cx="548640" cy="32004"/>
          </a:xfrm>
          <a:prstGeom prst="rect">
            <a:avLst/>
          </a:prstGeom>
          <a:solidFill>
            <a:srgbClr val="00D9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840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回顾</a:t>
            </a:r>
            <a:endParaRPr sz="115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640080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这套系统现在到哪、怎么衡量、什么该上</a:t>
            </a:r>
            <a:endParaRPr sz="2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1225296"/>
            <a:ext cx="566928" cy="45720"/>
          </a:xfrm>
          <a:prstGeom prst="rect">
            <a:avLst/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5024" y="1225296"/>
            <a:ext cx="256032" cy="45720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1245412"/>
            <a:ext cx="1828800" cy="12801"/>
          </a:xfrm>
          <a:prstGeom prst="rect">
            <a:avLst/>
          </a:prstGeom>
          <a:solidFill>
            <a:srgbClr val="28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463040"/>
            <a:ext cx="5486400" cy="2615184"/>
          </a:xfrm>
          <a:prstGeom prst="roundRect">
            <a:avLst>
              <a:gd name="adj" fmla="val 8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1572768"/>
            <a:ext cx="51206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演进到哪</a:t>
            </a:r>
            <a:endParaRPr sz="125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从纯方法论文档 → Agent 驱动接入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OpenSpec 为 owner + Delta Specs 演进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Self-Refine 有界闭环 + 经验记忆 + Fitness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需求反思 / RAM/D 先想清再写（0.4）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多 Agent 与跨平台 CI（0.5）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6928" y="420624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315968"/>
            <a:ext cx="51206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怎么衡量有效</a:t>
            </a:r>
            <a:endParaRPr sz="125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改对：review 迭代↓ · 返工率↓ · 逃逸缺陷↓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改稳：变更失败率↓ · 恢复时间↓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看得清：带证据的变更占比↑ · 审计闭环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省成本：稳定前缀 → prompt cache 命中↑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09360" y="1463040"/>
            <a:ext cx="5303520" cy="4937760"/>
          </a:xfrm>
          <a:prstGeom prst="roundRect">
            <a:avLst>
              <a:gd name="adj" fmla="val 8000"/>
            </a:avLst>
          </a:prstGeom>
          <a:solidFill>
            <a:srgbClr val="2A1D08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60020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什么项目该上 HEK</a:t>
            </a:r>
            <a:endParaRPr sz="1250" b="1" i="0">
              <a:solidFill>
                <a:srgbClr val="FFB02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需要稳定架构的团队 / 领域工程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AI 已实质参与日常变更，想从生成器变伙伴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关注合规 / 可审计，想证据成为资产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▸ 低风险局部改动可走 light 档——方法论是默认值，不是强制每处套用</a:t>
            </a:r>
            <a:endParaRPr sz="11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Harness Engineering Kit · 全局技术导览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12480" y="647395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回顾   |   24</a:t>
            </a:r>
            <a:endParaRPr sz="9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18288"/>
            <a:ext cx="12155119" cy="109728"/>
          </a:xfrm>
          <a:prstGeom prst="rect">
            <a:avLst/>
          </a:prstGeom>
          <a:solidFill>
            <a:srgbClr val="00FF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ightning Bolt 2"/>
          <p:cNvSpPr/>
          <p:nvPr/>
        </p:nvSpPr>
        <p:spPr>
          <a:xfrm>
            <a:off x="10195560" y="685800"/>
            <a:ext cx="868680" cy="2194560"/>
          </a:xfrm>
          <a:prstGeom prst="lightningBolt">
            <a:avLst/>
          </a:prstGeom>
          <a:solidFill>
            <a:srgbClr val="00FF9D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写在最后 · TAKEAWAY</a:t>
            </a:r>
            <a:endParaRPr sz="130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877824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把“人脑里的规则”，变成</a:t>
            </a:r>
            <a:r>
              <a:rPr sz="280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“仓库里的规则”</a:t>
            </a:r>
            <a:r>
              <a:rPr sz="2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28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3063240"/>
            <a:ext cx="10607040" cy="2331720"/>
          </a:xfrm>
          <a:prstGeom prst="roundRect">
            <a:avLst>
              <a:gd name="adj" fmla="val 6000"/>
            </a:avLst>
          </a:prstGeom>
          <a:solidFill>
            <a:srgbClr val="11182C"/>
          </a:solidFill>
          <a:ln w="9525">
            <a:solidFill>
              <a:srgbClr val="28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18688"/>
            <a:ext cx="100584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00FF9D"/>
                </a:solidFill>
                <a:latin typeface="微软雅黑"/>
                <a:ea typeface="微软雅黑"/>
                <a:cs typeface="微软雅黑"/>
              </a:rPr>
              <a:t>五条结论</a:t>
            </a:r>
            <a:endParaRPr sz="1300" b="1" i="0">
              <a:solidFill>
                <a:srgbClr val="00FF9D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000"/>
              </a:lnSpc>
              <a:spcBef>
                <a:spcPts val="600"/>
              </a:spcBef>
            </a:pPr>
            <a:r>
              <a:rPr sz="13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1. 框架就五件事：原则 / 流程 / 产物 / 治理 / 反哺</a:t>
            </a:r>
            <a:endParaRPr sz="13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000"/>
              </a:lnSpc>
              <a:spcBef>
                <a:spcPts val="600"/>
              </a:spcBef>
            </a:pPr>
            <a:r>
              <a:rPr sz="13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2. Agent = LLM + Harness：模型负责推理，Harness 负责上下文、权限与证据</a:t>
            </a:r>
            <a:endParaRPr sz="13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000"/>
              </a:lnSpc>
              <a:spcBef>
                <a:spcPts val="600"/>
              </a:spcBef>
            </a:pPr>
            <a:r>
              <a:rPr sz="13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3. 规格先于代码：proposal·spec·design·tasks，delta 合回权威库</a:t>
            </a:r>
            <a:endParaRPr sz="13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000"/>
              </a:lnSpc>
              <a:spcBef>
                <a:spcPts val="600"/>
              </a:spcBef>
            </a:pPr>
            <a:r>
              <a:rPr sz="1350" b="0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4. 完成 = 门禁 + 证据：生成了 ≠ 做完；错误要反哺成规则</a:t>
            </a:r>
            <a:endParaRPr sz="1350" b="0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2000"/>
              </a:lnSpc>
              <a:spcBef>
                <a:spcPts val="600"/>
              </a:spcBef>
            </a:pPr>
            <a:r>
              <a:rPr sz="1350" b="1" i="0">
                <a:solidFill>
                  <a:srgbClr val="E8EEF8"/>
                </a:solidFill>
                <a:latin typeface="微软雅黑"/>
                <a:ea typeface="微软雅黑"/>
                <a:cs typeface="微软雅黑"/>
              </a:rPr>
              <a:t>5. 落地策略：先跑通 → 再加门禁，避免一次性全配</a:t>
            </a:r>
            <a:endParaRPr sz="1350" b="1" i="0">
              <a:solidFill>
                <a:srgbClr val="E8EE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5669280"/>
            <a:ext cx="5577840" cy="310896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115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GitHub · 8425334/harness-engineering-kit</a:t>
            </a:r>
            <a:endParaRPr sz="115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28816" y="5669280"/>
            <a:ext cx="2793491" cy="310896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1150" b="1" i="0">
                <a:solidFill>
                  <a:srgbClr val="00D9FF"/>
                </a:solidFill>
                <a:latin typeface="微软雅黑"/>
                <a:ea typeface="微软雅黑"/>
                <a:cs typeface="微软雅黑"/>
              </a:rPr>
              <a:t>README.zh · AI 实战教程</a:t>
            </a:r>
            <a:endParaRPr sz="1150" b="1" i="0">
              <a:solidFill>
                <a:srgbClr val="00D9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63093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分享人：沈学海   ·   </a:t>
            </a:r>
            <a:r>
              <a:rPr sz="1100" b="0" i="0">
                <a:solidFill>
                  <a:srgbClr val="5A667E"/>
                </a:solidFill>
                <a:latin typeface="微软雅黑"/>
                <a:ea typeface="微软雅黑"/>
                <a:cs typeface="微软雅黑"/>
              </a:rPr>
              <a:t>感谢聆听 · 讲的细节全部在仓库里，开箱即可实操</a:t>
            </a:r>
            <a:endParaRPr sz="1100" b="0" i="0">
              <a:solidFill>
                <a:srgbClr val="5A667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12513</Words>
  <Application>WPS 演示</Application>
  <PresentationFormat>On-screen Show (4:3)</PresentationFormat>
  <Paragraphs>793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4" baseType="lpstr">
      <vt:lpstr>Arial</vt:lpstr>
      <vt:lpstr>宋体</vt:lpstr>
      <vt:lpstr>Wingdings</vt:lpstr>
      <vt:lpstr>Arial</vt:lpstr>
      <vt:lpstr>微软雅黑</vt:lpstr>
      <vt:lpstr>方正雅意黑 GB18030L2</vt:lpstr>
      <vt:lpstr>Consolas</vt:lpstr>
      <vt:lpstr>Calibri</vt:lpstr>
      <vt:lpstr>Helvetica Neue</vt:lpstr>
      <vt:lpstr>微软雅黑</vt:lpstr>
      <vt:lpstr>宋体</vt:lpstr>
      <vt:lpstr>Arial Unicode MS</vt:lpstr>
      <vt:lpstr>汉仪书宋二KW</vt:lpstr>
      <vt:lpstr>Thonburi</vt:lpstr>
      <vt:lpstr>Consolas</vt:lpstr>
      <vt:lpstr>微软雅黑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沈学海</cp:lastModifiedBy>
  <cp:revision>8</cp:revision>
  <dcterms:created xsi:type="dcterms:W3CDTF">2026-09-10T02:20:54Z</dcterms:created>
  <dcterms:modified xsi:type="dcterms:W3CDTF">2026-09-10T02:20:54Z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291C9EC377EE8B190C10A26A55D07B75_42</vt:lpwstr>
  </property>
  <property fmtid="{D5CDD505-2E9C-101B-9397-08002B2CF9AE}" pid="3" name="KSOProductBuildVer">
    <vt:lpwstr>2052-12.1.26046.26046</vt:lpwstr>
  </property>
</Properties>
</file>